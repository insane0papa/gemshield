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1" r:id="rId2"/>
    <p:sldId id="256" r:id="rId3"/>
    <p:sldId id="297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61B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9960F-7E05-4F62-ACDF-1699BA7E200F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DF639-2BD0-46A0-9553-6DE99758B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09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89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48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4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9644-0AB0-D410-386D-C0E7395B5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9F1F3-27C5-5BAE-8CA9-111EC41F9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964B8-C371-471D-0A91-4355B433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4A66D-2E30-5DFC-4787-DBCD3926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9B41E-1575-FE82-EC4F-6EAE4EAF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880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9189-9353-F956-AD08-8344578F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BC20E-4CA8-1D16-2C82-D1CFE5045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7C8CB-AB19-9AC8-A1DB-FEA6E9BC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A186D-FA82-4E35-C804-D5F4C0C8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E1E89-832D-DACA-0755-7E076CC3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78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D40F-B96F-53F4-29CA-48D10DDA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62572-255C-1051-5488-EE8E37B93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9482-E629-0883-BCB3-B3C3AFDE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5BEDA-0BCD-885C-21A2-37B328F2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93BF-7089-BC0E-E152-A9FB4CE5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589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B26E-29D7-FA5A-969A-A15629CC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C98B-BC85-4B4C-D542-749810A3B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EF8C2-6FFE-FBA0-7FF5-5C02CEC5C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5A837-C0FB-BA81-C5F9-527C368C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3DC1D-CCA9-13E0-1517-DC5C78FB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EAFE3-3F7D-7FD2-7197-A75205A3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83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DBEC-AEF5-158B-FC25-14F01358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33FB9-A61D-A1BB-947E-02A19B0A2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6547A-1643-C9F6-C82C-664463147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92ADB-7944-2294-97AE-DAC144744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40B94-31EA-1512-8E77-A5BED8305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83B40F-4A81-1389-32CB-23A3A03E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F36E0-38D9-F88F-3241-A3C462E4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3EFAB-C878-93DA-07D8-D8CBFC73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54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963-B0AC-0031-63FD-E8DAF85F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0325F-A8DC-6468-ED82-814DBC34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2B793-5FFD-A0EC-5478-A9F8A472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AE4FB-AEB9-B067-1771-056A440F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13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9C4BDC-2A7D-2A5D-77C6-944CABC8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C81EC-E09F-CED6-E70B-FD671A3E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58E87-D0E6-1B25-17AA-7B67A318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93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2D23F-69FE-CBA0-3FDB-781EF215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B85D9-CCF7-000B-72D9-B6892FF9B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D5FD0-1680-FF61-EFA9-AF589802A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F6A36-EDF1-4641-C8EB-6783FDDD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8DC19-218A-2493-2AFC-5AAE7D27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13094-4DD3-409E-6DA5-5E2BADB6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79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4BA1-134D-DB7D-BD4C-D60879BBC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25739-D249-EBF5-0E53-0B1D472E6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AB79D-FD68-9F9D-CDF7-314C893B0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3A5BE-5483-9E3D-6289-80A89735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30E4E-B9E6-171E-D077-E44CE934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36702-BA05-5BEF-062A-89F8050F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43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F5A1-1D03-E1CE-B8A3-12091953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FCFD9-0C8F-899E-5544-34E3A5B24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D43F1-C128-D77E-4FFB-A0992BB1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C9897-F4EC-A7FC-DEE4-726ECA6A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88A94-56E9-DE1C-DB0C-649FB03B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6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43AFDE-FDB9-0F45-9FB7-3CC91C3C9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1A16-A9BE-9459-EFEA-64EB2440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77E1F-42F4-2A41-12FD-82270637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CBF71-D277-2456-45DE-7519A598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F6692-9AAE-4B61-42CE-AAC5ADCA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061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67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C2FE3-4DE4-DDC2-2053-EDF28F655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97956-B1DF-47FC-51BF-E34B1EB93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CEB80-EAA3-0078-D5D7-9AAA63CE7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98A659-D30D-4808-9A31-BCCE22C0848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6EA65-C6BE-53F4-8DCA-EFF3822D2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10891-A55B-A6BA-1C58-0D0CCF21E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BDB8A-6E8F-491A-820C-90031570C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63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18" Type="http://schemas.openxmlformats.org/officeDocument/2006/relationships/image" Target="../media/image10.png"/><Relationship Id="rId26" Type="http://schemas.openxmlformats.org/officeDocument/2006/relationships/image" Target="../media/image2.png"/><Relationship Id="rId3" Type="http://schemas.openxmlformats.org/officeDocument/2006/relationships/image" Target="../media/image30.png"/><Relationship Id="rId21" Type="http://schemas.openxmlformats.org/officeDocument/2006/relationships/image" Target="../media/image27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17" Type="http://schemas.openxmlformats.org/officeDocument/2006/relationships/image" Target="../media/image20.png"/><Relationship Id="rId25" Type="http://schemas.openxmlformats.org/officeDocument/2006/relationships/image" Target="../media/image14.png"/><Relationship Id="rId2" Type="http://schemas.openxmlformats.org/officeDocument/2006/relationships/image" Target="../media/image3.png"/><Relationship Id="rId16" Type="http://schemas.openxmlformats.org/officeDocument/2006/relationships/image" Target="../media/image19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26.png"/><Relationship Id="rId24" Type="http://schemas.openxmlformats.org/officeDocument/2006/relationships/image" Target="../media/image43.png"/><Relationship Id="rId5" Type="http://schemas.openxmlformats.org/officeDocument/2006/relationships/image" Target="../media/image32.png"/><Relationship Id="rId15" Type="http://schemas.openxmlformats.org/officeDocument/2006/relationships/image" Target="../media/image4.png"/><Relationship Id="rId23" Type="http://schemas.openxmlformats.org/officeDocument/2006/relationships/image" Target="../media/image42.png"/><Relationship Id="rId10" Type="http://schemas.openxmlformats.org/officeDocument/2006/relationships/image" Target="../media/image22.png"/><Relationship Id="rId19" Type="http://schemas.openxmlformats.org/officeDocument/2006/relationships/image" Target="../media/image40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39.png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42564" y="-544449"/>
            <a:ext cx="1036320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2576" y="1094965"/>
            <a:ext cx="6089699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rgbClr val="E676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SIH26100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E676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AI-Powered Integrated Bid Compliance Verification Platform For </a:t>
            </a:r>
            <a:r>
              <a:rPr lang="en-GB" sz="2400" b="1" dirty="0" err="1">
                <a:solidFill>
                  <a:srgbClr val="E676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</a:t>
            </a:r>
            <a:r>
              <a:rPr lang="en-GB" sz="2400" b="1" dirty="0">
                <a:solidFill>
                  <a:srgbClr val="E676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Procurement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solidFill>
                  <a:srgbClr val="E676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rgbClr val="E676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b="1" dirty="0">
                <a:solidFill>
                  <a:srgbClr val="E676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 Dynasty</a:t>
            </a:r>
            <a:endParaRPr lang="en-IN" sz="2400" b="1" dirty="0">
              <a:solidFill>
                <a:srgbClr val="E676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50" y="0"/>
            <a:ext cx="2249850" cy="1062337"/>
          </a:xfrm>
          <a:prstGeom prst="rect">
            <a:avLst/>
          </a:prstGeom>
        </p:spPr>
      </p:pic>
      <p:pic>
        <p:nvPicPr>
          <p:cNvPr id="9" name="Picture 8" descr="ddlogo.png">
            <a:extLst>
              <a:ext uri="{FF2B5EF4-FFF2-40B4-BE49-F238E27FC236}">
                <a16:creationId xmlns:a16="http://schemas.microsoft.com/office/drawing/2014/main" id="{F8E9FF9D-5492-74DE-09AE-2BC912065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6" y="118872"/>
            <a:ext cx="749808" cy="7498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FCF84A-19B9-578A-7EDF-117399B7220D}"/>
              </a:ext>
            </a:extLst>
          </p:cNvPr>
          <p:cNvSpPr txBox="1"/>
          <p:nvPr/>
        </p:nvSpPr>
        <p:spPr>
          <a:xfrm>
            <a:off x="842564" y="119757"/>
            <a:ext cx="1920240" cy="7498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800" b="1" spc="25" dirty="0">
                <a:solidFill>
                  <a:srgbClr val="1A2233"/>
                </a:solidFill>
                <a:latin typeface="Arial"/>
              </a:rPr>
              <a:t>DEBUG</a:t>
            </a:r>
          </a:p>
          <a:p>
            <a:pPr algn="l">
              <a:lnSpc>
                <a:spcPct val="92000"/>
              </a:lnSpc>
            </a:pPr>
            <a:r>
              <a:rPr sz="1800" b="1" spc="25" dirty="0">
                <a:solidFill>
                  <a:srgbClr val="0EA05B"/>
                </a:solidFill>
                <a:latin typeface="Arial"/>
              </a:rPr>
              <a:t>DYNASTY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E98D00-8FA2-CFA8-36CF-8489139FB9AB}"/>
              </a:ext>
            </a:extLst>
          </p:cNvPr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25">
                <a:solidFill>
                  <a:srgbClr val="FFFFFF"/>
                </a:solidFill>
                <a:latin typeface="Arial"/>
              </a:rPr>
              <a:t>@Debug Dynasty</a:t>
            </a:r>
            <a:endParaRPr lang="en-IN" b="1" spc="25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0648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18872"/>
            <a:ext cx="749808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4128" y="118872"/>
            <a:ext cx="1920240" cy="7498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800" b="1" spc="25">
                <a:solidFill>
                  <a:srgbClr val="1A2233"/>
                </a:solidFill>
                <a:latin typeface="Arial"/>
              </a:rPr>
              <a:t>DEBUG</a:t>
            </a:r>
          </a:p>
          <a:p>
            <a:pPr algn="l">
              <a:lnSpc>
                <a:spcPct val="92000"/>
              </a:lnSpc>
            </a:pPr>
            <a:r>
              <a:rPr sz="1800" b="1" spc="25">
                <a:solidFill>
                  <a:srgbClr val="0EA05B"/>
                </a:solidFill>
                <a:latin typeface="Arial"/>
              </a:rPr>
              <a:t>DYNASTY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451" y="49955"/>
            <a:ext cx="3062697" cy="595035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ctr"/>
            <a:r>
              <a:rPr sz="3700" b="1" spc="60" dirty="0">
                <a:solidFill>
                  <a:srgbClr val="16191D"/>
                </a:solidFill>
                <a:latin typeface="Franklin Gothic Demi Cond" panose="020B0706030402020204" pitchFamily="34" charset="0"/>
              </a:rPr>
              <a:t>G E M S H I E L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76072"/>
            <a:ext cx="4846320" cy="274320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ctr"/>
            <a:r>
              <a:rPr sz="1300" b="0">
                <a:solidFill>
                  <a:srgbClr val="525C68"/>
                </a:solidFill>
                <a:latin typeface="Arial"/>
              </a:rPr>
              <a:t>(Evidence-Grounded Bid Verification for GeM)</a:t>
            </a:r>
          </a:p>
        </p:txBody>
      </p:sp>
      <p:pic>
        <p:nvPicPr>
          <p:cNvPr id="6" name="Picture 5" descr="sta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74320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56032"/>
            <a:ext cx="1280160" cy="34747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1">
                <a:solidFill>
                  <a:srgbClr val="16191D"/>
                </a:solidFill>
                <a:latin typeface="Arial"/>
              </a:rPr>
              <a:t>-  Innovation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" y="932688"/>
            <a:ext cx="2395728" cy="292608"/>
          </a:xfrm>
          <a:prstGeom prst="roundRect">
            <a:avLst>
              <a:gd name="adj" fmla="val 22000"/>
            </a:avLst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50" b="1" spc="45">
                <a:solidFill>
                  <a:srgbClr val="FFFFFF"/>
                </a:solidFill>
                <a:latin typeface="Arial"/>
              </a:rPr>
              <a:t>PROBLEM  EXISTING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" y="1243584"/>
            <a:ext cx="6089904" cy="118872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9050">
            <a:solidFill>
              <a:srgbClr val="C0392B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0896" y="1307592"/>
            <a:ext cx="246888" cy="2468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397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ragment_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1" y="1344168"/>
            <a:ext cx="173736" cy="173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1327802"/>
            <a:ext cx="5559552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>
                <a:solidFill>
                  <a:srgbClr val="8E1F14"/>
                </a:solidFill>
                <a:latin typeface="Arial"/>
              </a:rPr>
              <a:t>Requirement Fragmentation</a:t>
            </a:r>
            <a:r>
              <a:rPr sz="1250" b="1" u="none">
                <a:solidFill>
                  <a:srgbClr val="8E1F14"/>
                </a:solidFill>
                <a:latin typeface="Arial"/>
              </a:rPr>
              <a:t>  :  </a:t>
            </a:r>
            <a:r>
              <a:rPr lang="en-US" sz="1200">
                <a:solidFill>
                  <a:srgbClr val="2A3138"/>
                </a:solidFill>
                <a:latin typeface="Arial"/>
              </a:rPr>
              <a:t>N</a:t>
            </a:r>
            <a:r>
              <a:rPr sz="1200" b="0" u="none">
                <a:solidFill>
                  <a:srgbClr val="2A3138"/>
                </a:solidFill>
                <a:latin typeface="Arial"/>
              </a:rPr>
              <a:t>o two </a:t>
            </a:r>
            <a:r>
              <a:rPr sz="1200" b="0" u="none" dirty="0" err="1">
                <a:solidFill>
                  <a:srgbClr val="2A3138"/>
                </a:solidFill>
                <a:latin typeface="Arial"/>
              </a:rPr>
              <a:t>GeM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 tenders share a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1581912"/>
            <a:ext cx="246888" cy="2468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397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ocs_multi_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1" y="1618488"/>
            <a:ext cx="173736" cy="1737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1602122"/>
            <a:ext cx="5559552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8E1F14"/>
                </a:solidFill>
                <a:latin typeface="Arial"/>
              </a:rPr>
              <a:t>Evidence Fragmentation</a:t>
            </a:r>
            <a:r>
              <a:rPr sz="1250" b="1" u="none" dirty="0">
                <a:solidFill>
                  <a:srgbClr val="8E1F14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O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ne clause, many documents — and reverse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" y="1856231"/>
            <a:ext cx="246888" cy="2468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397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ontradiction_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1" y="1892807"/>
            <a:ext cx="173736" cy="173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" y="1847088"/>
            <a:ext cx="5559552" cy="26517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>
                <a:solidFill>
                  <a:srgbClr val="8E1F14"/>
                </a:solidFill>
                <a:latin typeface="Arial"/>
              </a:rPr>
              <a:t>Self-Contradicting Bids</a:t>
            </a:r>
            <a:r>
              <a:rPr sz="1250" b="1" u="none">
                <a:solidFill>
                  <a:srgbClr val="8E1F14"/>
                </a:solidFill>
                <a:latin typeface="Arial"/>
              </a:rPr>
              <a:t>  :  </a:t>
            </a:r>
            <a:r>
              <a:rPr sz="1200" b="0" u="none">
                <a:solidFill>
                  <a:srgbClr val="2A3138"/>
                </a:solidFill>
                <a:latin typeface="Arial"/>
              </a:rPr>
              <a:t>PAN, GST and OEM names that disagree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2130551"/>
            <a:ext cx="246888" cy="2468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397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no_replay_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1" y="2167127"/>
            <a:ext cx="173736" cy="173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" y="2150762"/>
            <a:ext cx="5559552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 err="1">
                <a:solidFill>
                  <a:srgbClr val="8E1F14"/>
                </a:solidFill>
                <a:latin typeface="Arial"/>
              </a:rPr>
              <a:t>Unreplayable</a:t>
            </a:r>
            <a:r>
              <a:rPr sz="1250" b="1" u="sng" dirty="0">
                <a:solidFill>
                  <a:srgbClr val="8E1F14"/>
                </a:solidFill>
                <a:latin typeface="Arial"/>
              </a:rPr>
              <a:t> Verdicts</a:t>
            </a:r>
            <a:r>
              <a:rPr sz="1250" b="1" u="none" dirty="0">
                <a:solidFill>
                  <a:srgbClr val="8E1F14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T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he decision cannot be rebuilt later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" y="2505456"/>
            <a:ext cx="2633472" cy="292608"/>
          </a:xfrm>
          <a:prstGeom prst="roundRect">
            <a:avLst>
              <a:gd name="adj" fmla="val 22000"/>
            </a:avLst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50" b="1" spc="45">
                <a:solidFill>
                  <a:srgbClr val="FFFFFF"/>
                </a:solidFill>
                <a:latin typeface="Arial"/>
              </a:rPr>
              <a:t>PROPOSED  SOLUTION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" y="2816352"/>
            <a:ext cx="6089904" cy="157276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9050">
            <a:solidFill>
              <a:srgbClr val="525C68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0896" y="2898648"/>
            <a:ext cx="246888" cy="246888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twin_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3" y="293979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2928002"/>
            <a:ext cx="5248656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2158D6"/>
                </a:solidFill>
                <a:latin typeface="Arial"/>
              </a:rPr>
              <a:t>Tender Digital Twin</a:t>
            </a:r>
            <a:r>
              <a:rPr sz="1250" b="1" u="none" dirty="0">
                <a:solidFill>
                  <a:srgbClr val="2158D6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C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lause &amp; ATC → checkable requirement</a:t>
            </a:r>
          </a:p>
        </p:txBody>
      </p:sp>
      <p:pic>
        <p:nvPicPr>
          <p:cNvPr id="29" name="Picture 28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2939796"/>
            <a:ext cx="182880" cy="18288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310896" y="3191256"/>
            <a:ext cx="246888" cy="246888"/>
          </a:xfrm>
          <a:prstGeom prst="ellipse">
            <a:avLst/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evidence_graph_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043" y="3232404"/>
            <a:ext cx="164592" cy="1645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8368" y="3220610"/>
            <a:ext cx="5248656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E07C0E"/>
                </a:solidFill>
                <a:latin typeface="Arial"/>
              </a:rPr>
              <a:t>Evidence Graph</a:t>
            </a:r>
            <a:r>
              <a:rPr sz="1250" b="1" u="none" dirty="0">
                <a:solidFill>
                  <a:srgbClr val="E07C0E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R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equirement → document → page → value</a:t>
            </a:r>
          </a:p>
        </p:txBody>
      </p:sp>
      <p:pic>
        <p:nvPicPr>
          <p:cNvPr id="33" name="Picture 32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3232404"/>
            <a:ext cx="182880" cy="18288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310896" y="3483863"/>
            <a:ext cx="246888" cy="246888"/>
          </a:xfrm>
          <a:prstGeom prst="ellipse">
            <a:avLst/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cluster_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043" y="3525012"/>
            <a:ext cx="164592" cy="1645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368" y="3513218"/>
            <a:ext cx="5248656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23934D"/>
                </a:solidFill>
                <a:latin typeface="Arial"/>
              </a:rPr>
              <a:t>Conflict Engine</a:t>
            </a:r>
            <a:r>
              <a:rPr sz="1250" b="1" u="none" dirty="0">
                <a:solidFill>
                  <a:srgbClr val="23934D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C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lusters claims, flags what contradicts</a:t>
            </a:r>
          </a:p>
        </p:txBody>
      </p:sp>
      <p:pic>
        <p:nvPicPr>
          <p:cNvPr id="37" name="Picture 36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3525012"/>
            <a:ext cx="182880" cy="18288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310896" y="3776472"/>
            <a:ext cx="246888" cy="2468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gate_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2043" y="3817620"/>
            <a:ext cx="164592" cy="1645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3805826"/>
            <a:ext cx="5248656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6D28D9"/>
                </a:solidFill>
                <a:latin typeface="Arial"/>
              </a:rPr>
              <a:t>Confidence Gate</a:t>
            </a:r>
            <a:r>
              <a:rPr sz="1250" b="1" u="none" dirty="0">
                <a:solidFill>
                  <a:srgbClr val="6D28D9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W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eak cases escalate, never auto-reject</a:t>
            </a:r>
          </a:p>
        </p:txBody>
      </p:sp>
      <p:sp>
        <p:nvSpPr>
          <p:cNvPr id="41" name="Oval 40"/>
          <p:cNvSpPr/>
          <p:nvPr/>
        </p:nvSpPr>
        <p:spPr>
          <a:xfrm>
            <a:off x="310896" y="4069080"/>
            <a:ext cx="246888" cy="246888"/>
          </a:xfrm>
          <a:prstGeom prst="ellipse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passport_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2043" y="4110228"/>
            <a:ext cx="164592" cy="1645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8368" y="4098434"/>
            <a:ext cx="5248656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1A2233"/>
                </a:solidFill>
                <a:latin typeface="Arial"/>
              </a:rPr>
              <a:t>Bid Passport</a:t>
            </a:r>
            <a:r>
              <a:rPr sz="1250" b="1" u="none" dirty="0">
                <a:solidFill>
                  <a:srgbClr val="1A2233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H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ash-sealed record of the whole verdict</a:t>
            </a:r>
          </a:p>
        </p:txBody>
      </p:sp>
      <p:pic>
        <p:nvPicPr>
          <p:cNvPr id="44" name="Picture 43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4110228"/>
            <a:ext cx="182880" cy="18288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219456" y="4462272"/>
            <a:ext cx="4023360" cy="292608"/>
          </a:xfrm>
          <a:prstGeom prst="roundRect">
            <a:avLst>
              <a:gd name="adj" fmla="val 22000"/>
            </a:avLst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50" b="1" spc="45">
                <a:solidFill>
                  <a:srgbClr val="FFFFFF"/>
                </a:solidFill>
                <a:latin typeface="Arial"/>
              </a:rPr>
              <a:t>UVP  (UNIQUE  VALUE  PROPOSITION)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" y="4773168"/>
            <a:ext cx="6089904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5317E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10896" y="4846320"/>
            <a:ext cx="5907024" cy="365760"/>
          </a:xfrm>
          <a:prstGeom prst="roundRect">
            <a:avLst>
              <a:gd name="adj" fmla="val 20000"/>
            </a:avLst>
          </a:prstGeom>
          <a:solidFill>
            <a:srgbClr val="153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500" b="1" spc="15">
                <a:solidFill>
                  <a:srgbClr val="FFFFFF"/>
                </a:solidFill>
                <a:latin typeface="Arial"/>
              </a:rPr>
              <a:t>“We don’t just verify the bid — we prove the decision.”</a:t>
            </a:r>
          </a:p>
        </p:txBody>
      </p:sp>
      <p:pic>
        <p:nvPicPr>
          <p:cNvPr id="48" name="Picture 47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" y="529437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58368" y="5278010"/>
            <a:ext cx="5559552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15317E"/>
                </a:solidFill>
                <a:latin typeface="Arial"/>
              </a:rPr>
              <a:t>No Evidence → No Decision</a:t>
            </a:r>
            <a:r>
              <a:rPr sz="1250" b="1" u="none" dirty="0">
                <a:solidFill>
                  <a:srgbClr val="15317E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A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n uncited machine claim is refused</a:t>
            </a:r>
          </a:p>
        </p:txBody>
      </p:sp>
      <p:pic>
        <p:nvPicPr>
          <p:cNvPr id="50" name="Picture 49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" y="553212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58368" y="5504688"/>
            <a:ext cx="5559552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>
                <a:solidFill>
                  <a:srgbClr val="15317E"/>
                </a:solidFill>
                <a:latin typeface="Arial"/>
              </a:rPr>
              <a:t>Tender-Aware, Not Checklist-Aware</a:t>
            </a:r>
            <a:r>
              <a:rPr sz="1250" b="1" u="none">
                <a:solidFill>
                  <a:srgbClr val="15317E"/>
                </a:solidFill>
                <a:latin typeface="Arial"/>
              </a:rPr>
              <a:t>  :  </a:t>
            </a:r>
            <a:r>
              <a:rPr sz="1200" b="0" u="none">
                <a:solidFill>
                  <a:srgbClr val="2A3138"/>
                </a:solidFill>
                <a:latin typeface="Arial"/>
              </a:rPr>
              <a:t>ATCs actually bind</a:t>
            </a:r>
          </a:p>
        </p:txBody>
      </p:sp>
      <p:pic>
        <p:nvPicPr>
          <p:cNvPr id="52" name="Picture 51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" y="576986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58368" y="5753497"/>
            <a:ext cx="5559552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>
                <a:solidFill>
                  <a:srgbClr val="15317E"/>
                </a:solidFill>
                <a:latin typeface="Arial"/>
              </a:rPr>
              <a:t>Contradiction-First</a:t>
            </a:r>
            <a:r>
              <a:rPr sz="1250" b="1" u="none" dirty="0">
                <a:solidFill>
                  <a:srgbClr val="15317E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AI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 hunt claims that fight each other</a:t>
            </a:r>
          </a:p>
        </p:txBody>
      </p:sp>
      <p:pic>
        <p:nvPicPr>
          <p:cNvPr id="54" name="Picture 53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" y="6007607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58368" y="5991241"/>
            <a:ext cx="5559552" cy="206467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u="sng" dirty="0" err="1">
                <a:solidFill>
                  <a:srgbClr val="15317E"/>
                </a:solidFill>
                <a:latin typeface="Arial"/>
              </a:rPr>
              <a:t>Replayable</a:t>
            </a:r>
            <a:r>
              <a:rPr sz="1250" b="1" u="sng" dirty="0">
                <a:solidFill>
                  <a:srgbClr val="15317E"/>
                </a:solidFill>
                <a:latin typeface="Arial"/>
              </a:rPr>
              <a:t> Decisions</a:t>
            </a:r>
            <a:r>
              <a:rPr sz="1250" b="1" u="none" dirty="0">
                <a:solidFill>
                  <a:srgbClr val="15317E"/>
                </a:solidFill>
                <a:latin typeface="Arial"/>
              </a:rPr>
              <a:t>  :  </a:t>
            </a:r>
            <a:r>
              <a:rPr lang="en-US" sz="1200" dirty="0">
                <a:solidFill>
                  <a:srgbClr val="2A3138"/>
                </a:solidFill>
                <a:latin typeface="Arial"/>
              </a:rPr>
              <a:t>S</a:t>
            </a:r>
            <a:r>
              <a:rPr sz="1200" b="0" u="none" dirty="0">
                <a:solidFill>
                  <a:srgbClr val="2A3138"/>
                </a:solidFill>
                <a:latin typeface="Arial"/>
              </a:rPr>
              <a:t>ame evidence, same verdict, months 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19088" y="932688"/>
            <a:ext cx="2194560" cy="292608"/>
          </a:xfrm>
          <a:prstGeom prst="roundRect">
            <a:avLst>
              <a:gd name="adj" fmla="val 22000"/>
            </a:avLst>
          </a:prstGeom>
          <a:solidFill>
            <a:srgbClr val="153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50" b="1" spc="45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19088" y="1243584"/>
            <a:ext cx="5550408" cy="4974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153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026020" y="1335024"/>
            <a:ext cx="365760" cy="3657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users_group_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90028" y="1399032"/>
            <a:ext cx="237744" cy="23774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565391" y="1700784"/>
            <a:ext cx="1287018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6191D"/>
                </a:solidFill>
                <a:latin typeface="Arial"/>
              </a:rPr>
              <a:t>OFFICER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7779258" y="1444751"/>
            <a:ext cx="182880" cy="146304"/>
          </a:xfrm>
          <a:prstGeom prst="rightArrow">
            <a:avLst/>
          </a:prstGeom>
          <a:solidFill>
            <a:srgbClr val="7C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349615" y="1335024"/>
            <a:ext cx="365760" cy="3657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login_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3622" y="1399032"/>
            <a:ext cx="237744" cy="23774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888986" y="1700784"/>
            <a:ext cx="1287018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6191D"/>
                </a:solidFill>
                <a:latin typeface="Arial"/>
              </a:rPr>
              <a:t>LOG IN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9102852" y="1444751"/>
            <a:ext cx="182880" cy="146304"/>
          </a:xfrm>
          <a:prstGeom prst="rightArrow">
            <a:avLst/>
          </a:prstGeom>
          <a:solidFill>
            <a:srgbClr val="7C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673209" y="1335024"/>
            <a:ext cx="365760" cy="365760"/>
          </a:xfrm>
          <a:prstGeom prst="ellipse">
            <a:avLst/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66" descr="shield_check__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37216" y="1399032"/>
            <a:ext cx="237744" cy="23774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212580" y="1700784"/>
            <a:ext cx="1287018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6191D"/>
                </a:solidFill>
                <a:latin typeface="Arial"/>
              </a:rPr>
              <a:t>ROLE AUTH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10426446" y="1444751"/>
            <a:ext cx="182880" cy="146304"/>
          </a:xfrm>
          <a:prstGeom prst="rightArrow">
            <a:avLst/>
          </a:prstGeom>
          <a:solidFill>
            <a:srgbClr val="7C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996803" y="1335024"/>
            <a:ext cx="365760" cy="365760"/>
          </a:xfrm>
          <a:prstGeom prst="ellipse">
            <a:avLst/>
          </a:prstGeom>
          <a:solidFill>
            <a:srgbClr val="52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upload_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60811" y="1399032"/>
            <a:ext cx="237744" cy="23774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536174" y="1700784"/>
            <a:ext cx="1287018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6191D"/>
                </a:solidFill>
                <a:latin typeface="Arial"/>
              </a:rPr>
              <a:t>UPLOAD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161395" y="1874519"/>
            <a:ext cx="36576" cy="5486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399019" y="1920240"/>
            <a:ext cx="3780663" cy="36576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Down Arrow 74"/>
          <p:cNvSpPr/>
          <p:nvPr/>
        </p:nvSpPr>
        <p:spPr>
          <a:xfrm>
            <a:off x="7307579" y="1956816"/>
            <a:ext cx="182880" cy="100584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Down Arrow 75"/>
          <p:cNvSpPr/>
          <p:nvPr/>
        </p:nvSpPr>
        <p:spPr>
          <a:xfrm>
            <a:off x="9102852" y="1956816"/>
            <a:ext cx="182880" cy="100584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Down Arrow 76"/>
          <p:cNvSpPr/>
          <p:nvPr/>
        </p:nvSpPr>
        <p:spPr>
          <a:xfrm>
            <a:off x="10898124" y="1956816"/>
            <a:ext cx="182880" cy="100584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6547103" y="2084831"/>
            <a:ext cx="1703832" cy="175564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905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592823" y="2121408"/>
            <a:ext cx="1612391" cy="347472"/>
          </a:xfrm>
          <a:prstGeom prst="roundRect">
            <a:avLst>
              <a:gd name="adj" fmla="val 2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twin_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399" y="2194560"/>
            <a:ext cx="201168" cy="20116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21423" y="2121408"/>
            <a:ext cx="1173480" cy="34747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TENDER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TWIN</a:t>
            </a:r>
          </a:p>
        </p:txBody>
      </p:sp>
      <p:pic>
        <p:nvPicPr>
          <p:cNvPr id="82" name="Picture 81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4048" y="2203703"/>
            <a:ext cx="182880" cy="182880"/>
          </a:xfrm>
          <a:prstGeom prst="rect">
            <a:avLst/>
          </a:prstGeom>
        </p:spPr>
      </p:pic>
      <p:sp>
        <p:nvSpPr>
          <p:cNvPr id="83" name="Oval 82"/>
          <p:cNvSpPr/>
          <p:nvPr/>
        </p:nvSpPr>
        <p:spPr>
          <a:xfrm>
            <a:off x="7216139" y="2523744"/>
            <a:ext cx="365760" cy="3657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file_text__whi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89291" y="2596896"/>
            <a:ext cx="219456" cy="219456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583679" y="2889503"/>
            <a:ext cx="163068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E2F5F"/>
                </a:solidFill>
                <a:latin typeface="Arial"/>
              </a:rPr>
              <a:t>Clause → Rule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7339583" y="3090672"/>
            <a:ext cx="118872" cy="82296"/>
          </a:xfrm>
          <a:prstGeom prst="downArrow">
            <a:avLst/>
          </a:prstGeom>
          <a:solidFill>
            <a:srgbClr val="21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7216139" y="3191256"/>
            <a:ext cx="365760" cy="3657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list_checks__whi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89291" y="3264408"/>
            <a:ext cx="219456" cy="21945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583679" y="3557015"/>
            <a:ext cx="163068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E2F5F"/>
                </a:solidFill>
                <a:latin typeface="Arial"/>
              </a:rPr>
              <a:t>Rule Set R001→Rn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342376" y="2084831"/>
            <a:ext cx="1703832" cy="1755648"/>
          </a:xfrm>
          <a:prstGeom prst="roundRect">
            <a:avLst>
              <a:gd name="adj" fmla="val 6000"/>
            </a:avLst>
          </a:prstGeom>
          <a:solidFill>
            <a:srgbClr val="FDF2E4"/>
          </a:solidFill>
          <a:ln w="1905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8388096" y="2121408"/>
            <a:ext cx="1612391" cy="347472"/>
          </a:xfrm>
          <a:prstGeom prst="roundRect">
            <a:avLst>
              <a:gd name="adj" fmla="val 20000"/>
            </a:avLst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evidence_graph_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4672" y="2194560"/>
            <a:ext cx="201168" cy="20116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8616696" y="2121408"/>
            <a:ext cx="1173480" cy="34747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EVIDENCE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GRAPH</a:t>
            </a:r>
          </a:p>
        </p:txBody>
      </p:sp>
      <p:pic>
        <p:nvPicPr>
          <p:cNvPr id="94" name="Picture 93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9320" y="2203703"/>
            <a:ext cx="182880" cy="182880"/>
          </a:xfrm>
          <a:prstGeom prst="rect">
            <a:avLst/>
          </a:prstGeom>
        </p:spPr>
      </p:pic>
      <p:sp>
        <p:nvSpPr>
          <p:cNvPr id="95" name="Oval 94"/>
          <p:cNvSpPr/>
          <p:nvPr/>
        </p:nvSpPr>
        <p:spPr>
          <a:xfrm>
            <a:off x="9011412" y="2523744"/>
            <a:ext cx="365760" cy="365760"/>
          </a:xfrm>
          <a:prstGeom prst="ellipse">
            <a:avLst/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search_value__whi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84564" y="2596896"/>
            <a:ext cx="219456" cy="21945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378952" y="2889503"/>
            <a:ext cx="163068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6B3B06"/>
                </a:solidFill>
                <a:latin typeface="Arial"/>
              </a:rPr>
              <a:t>Page + Value</a:t>
            </a:r>
          </a:p>
        </p:txBody>
      </p:sp>
      <p:sp>
        <p:nvSpPr>
          <p:cNvPr id="98" name="Down Arrow 97"/>
          <p:cNvSpPr/>
          <p:nvPr/>
        </p:nvSpPr>
        <p:spPr>
          <a:xfrm>
            <a:off x="9134856" y="3090672"/>
            <a:ext cx="118872" cy="82296"/>
          </a:xfrm>
          <a:prstGeom prst="downArrow">
            <a:avLst/>
          </a:prstGeom>
          <a:solidFill>
            <a:srgbClr val="E0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9011412" y="3191256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0" name="Picture 99" descr="pgvecto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84564" y="3264408"/>
            <a:ext cx="219456" cy="219456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378952" y="3557015"/>
            <a:ext cx="163068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6B3B06"/>
                </a:solidFill>
                <a:latin typeface="Arial"/>
              </a:rPr>
              <a:t>384-d Index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137648" y="2084831"/>
            <a:ext cx="1703832" cy="1755648"/>
          </a:xfrm>
          <a:prstGeom prst="roundRect">
            <a:avLst>
              <a:gd name="adj" fmla="val 6000"/>
            </a:avLst>
          </a:prstGeom>
          <a:solidFill>
            <a:srgbClr val="E6F6EC"/>
          </a:solidFill>
          <a:ln w="1905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10183368" y="2121408"/>
            <a:ext cx="1612391" cy="347472"/>
          </a:xfrm>
          <a:prstGeom prst="roundRect">
            <a:avLst>
              <a:gd name="adj" fmla="val 20000"/>
            </a:avLst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cluster_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9944" y="2194560"/>
            <a:ext cx="201168" cy="2011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0411968" y="2121408"/>
            <a:ext cx="1173480" cy="34747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CONFLICT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SCAN</a:t>
            </a:r>
          </a:p>
        </p:txBody>
      </p:sp>
      <p:pic>
        <p:nvPicPr>
          <p:cNvPr id="106" name="Picture 105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4592" y="2203703"/>
            <a:ext cx="182880" cy="182880"/>
          </a:xfrm>
          <a:prstGeom prst="rect">
            <a:avLst/>
          </a:prstGeom>
        </p:spPr>
      </p:pic>
      <p:sp>
        <p:nvSpPr>
          <p:cNvPr id="107" name="Oval 106"/>
          <p:cNvSpPr/>
          <p:nvPr/>
        </p:nvSpPr>
        <p:spPr>
          <a:xfrm>
            <a:off x="10806684" y="2523744"/>
            <a:ext cx="365760" cy="365760"/>
          </a:xfrm>
          <a:prstGeom prst="ellipse">
            <a:avLst/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8" name="Picture 107" descr="merge__whit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79836" y="2596896"/>
            <a:ext cx="219456" cy="219456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174223" y="2889503"/>
            <a:ext cx="163068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B4A28"/>
                </a:solidFill>
                <a:latin typeface="Arial"/>
              </a:rPr>
              <a:t>Claim Match</a:t>
            </a:r>
          </a:p>
        </p:txBody>
      </p:sp>
      <p:sp>
        <p:nvSpPr>
          <p:cNvPr id="110" name="Down Arrow 109"/>
          <p:cNvSpPr/>
          <p:nvPr/>
        </p:nvSpPr>
        <p:spPr>
          <a:xfrm>
            <a:off x="10930128" y="3090672"/>
            <a:ext cx="118872" cy="82296"/>
          </a:xfrm>
          <a:prstGeom prst="downArrow">
            <a:avLst/>
          </a:prstGeom>
          <a:solidFill>
            <a:srgbClr val="23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0806684" y="319125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Picture 111" descr="contradiction__whit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79836" y="3264408"/>
            <a:ext cx="219456" cy="21945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0174223" y="3557015"/>
            <a:ext cx="163068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B4A28"/>
                </a:solidFill>
                <a:latin typeface="Arial"/>
              </a:rPr>
              <a:t>Contradiction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80731" y="3840479"/>
            <a:ext cx="36576" cy="457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9176004" y="3840479"/>
            <a:ext cx="36576" cy="457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971276" y="3840479"/>
            <a:ext cx="36576" cy="457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7399019" y="3886200"/>
            <a:ext cx="3590544" cy="3200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Down Arrow 117"/>
          <p:cNvSpPr/>
          <p:nvPr/>
        </p:nvSpPr>
        <p:spPr>
          <a:xfrm>
            <a:off x="9102852" y="3918204"/>
            <a:ext cx="182880" cy="91440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556935" y="4023360"/>
            <a:ext cx="5294376" cy="566928"/>
          </a:xfrm>
          <a:prstGeom prst="roundRect">
            <a:avLst>
              <a:gd name="adj" fmla="val 14000"/>
            </a:avLst>
          </a:prstGeom>
          <a:solidFill>
            <a:srgbClr val="0E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846649" y="404164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1" name="Picture 120" descr="gauge__slat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19801" y="4114800"/>
            <a:ext cx="219456" cy="219456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298009" y="4407408"/>
            <a:ext cx="146304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Rule Engine</a:t>
            </a:r>
          </a:p>
        </p:txBody>
      </p:sp>
      <p:sp>
        <p:nvSpPr>
          <p:cNvPr id="123" name="Oval 122"/>
          <p:cNvSpPr/>
          <p:nvPr/>
        </p:nvSpPr>
        <p:spPr>
          <a:xfrm>
            <a:off x="10176174" y="404164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4" name="Picture 123" descr="gemini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40182" y="4105656"/>
            <a:ext cx="237744" cy="237744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9627534" y="4407408"/>
            <a:ext cx="1463040" cy="1828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Gemini RAG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11412" y="4096512"/>
            <a:ext cx="365760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27" name="Down Arrow 126"/>
          <p:cNvSpPr/>
          <p:nvPr/>
        </p:nvSpPr>
        <p:spPr>
          <a:xfrm>
            <a:off x="9102852" y="4599432"/>
            <a:ext cx="182880" cy="91440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6547103" y="4700016"/>
            <a:ext cx="2574036" cy="475488"/>
          </a:xfrm>
          <a:prstGeom prst="roundRect">
            <a:avLst>
              <a:gd name="adj" fmla="val 16000"/>
            </a:avLst>
          </a:prstGeom>
          <a:solidFill>
            <a:srgbClr val="FDF2E4"/>
          </a:solidFill>
          <a:ln w="1905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6693407" y="4754879"/>
            <a:ext cx="365760" cy="365760"/>
          </a:xfrm>
          <a:prstGeom prst="ellipse">
            <a:avLst/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0" name="Picture 129" descr="m_office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57416" y="4818888"/>
            <a:ext cx="237744" cy="237744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7140891" y="4759278"/>
            <a:ext cx="3468435" cy="54424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>
              <a:lnSpc>
                <a:spcPct val="86000"/>
              </a:lnSpc>
            </a:pPr>
            <a:r>
              <a:rPr lang="en-US" sz="1200" b="1" dirty="0">
                <a:solidFill>
                  <a:srgbClr val="6B3B06"/>
                </a:solidFill>
                <a:latin typeface="Arial"/>
              </a:rPr>
              <a:t>HUMAN REVIEW QUEUE</a:t>
            </a:r>
          </a:p>
          <a:p>
            <a:pPr>
              <a:lnSpc>
                <a:spcPct val="86000"/>
              </a:lnSpc>
            </a:pPr>
            <a:r>
              <a:rPr lang="en-US" sz="1200" b="1" dirty="0">
                <a:solidFill>
                  <a:srgbClr val="6B3B06"/>
                </a:solidFill>
                <a:latin typeface="Arial"/>
              </a:rPr>
              <a:t>score &lt; 85 or conflict</a:t>
            </a:r>
          </a:p>
          <a:p>
            <a:pPr algn="l"/>
            <a:endParaRPr sz="1250" b="1" dirty="0">
              <a:solidFill>
                <a:srgbClr val="6B3B06"/>
              </a:solidFill>
              <a:latin typeface="Arial"/>
            </a:endParaRPr>
          </a:p>
        </p:txBody>
      </p:sp>
      <p:sp>
        <p:nvSpPr>
          <p:cNvPr id="132" name="Down Arrow 131"/>
          <p:cNvSpPr/>
          <p:nvPr/>
        </p:nvSpPr>
        <p:spPr>
          <a:xfrm>
            <a:off x="7756397" y="5184648"/>
            <a:ext cx="155448" cy="100584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9267444" y="4700016"/>
            <a:ext cx="2574036" cy="475488"/>
          </a:xfrm>
          <a:prstGeom prst="roundRect">
            <a:avLst>
              <a:gd name="adj" fmla="val 16000"/>
            </a:avLst>
          </a:prstGeom>
          <a:solidFill>
            <a:srgbClr val="E6F6EC"/>
          </a:solidFill>
          <a:ln w="1905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9413748" y="4754879"/>
            <a:ext cx="365760" cy="365760"/>
          </a:xfrm>
          <a:prstGeom prst="ellipse">
            <a:avLst/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5" name="Picture 134" descr="verdict__whit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77756" y="4818888"/>
            <a:ext cx="237744" cy="237744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9852660" y="4766110"/>
            <a:ext cx="3352202" cy="34329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>
              <a:lnSpc>
                <a:spcPct val="86000"/>
              </a:lnSpc>
            </a:pPr>
            <a:r>
              <a:rPr lang="en-IN" sz="1200" b="1">
                <a:solidFill>
                  <a:srgbClr val="0B4A28"/>
                </a:solidFill>
                <a:latin typeface="Arial"/>
              </a:rPr>
              <a:t>MACHINE VERDICT</a:t>
            </a:r>
          </a:p>
          <a:p>
            <a:pPr>
              <a:lnSpc>
                <a:spcPct val="86000"/>
              </a:lnSpc>
            </a:pPr>
            <a:r>
              <a:rPr lang="en-IN" sz="1200" b="1">
                <a:solidFill>
                  <a:srgbClr val="0B4A28"/>
                </a:solidFill>
                <a:latin typeface="Arial"/>
              </a:rPr>
              <a:t>compliant · deficient</a:t>
            </a:r>
            <a:endParaRPr lang="en-IN" sz="1200" b="1" dirty="0">
              <a:solidFill>
                <a:srgbClr val="0B4A28"/>
              </a:solidFill>
              <a:latin typeface="Arial"/>
            </a:endParaRPr>
          </a:p>
        </p:txBody>
      </p:sp>
      <p:sp>
        <p:nvSpPr>
          <p:cNvPr id="137" name="Down Arrow 136"/>
          <p:cNvSpPr/>
          <p:nvPr/>
        </p:nvSpPr>
        <p:spPr>
          <a:xfrm>
            <a:off x="10476738" y="5184648"/>
            <a:ext cx="155448" cy="100584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6547103" y="5294376"/>
            <a:ext cx="5294376" cy="384048"/>
          </a:xfrm>
          <a:prstGeom prst="roundRect">
            <a:avLst>
              <a:gd name="adj" fmla="val 14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6675119" y="5330952"/>
            <a:ext cx="310896" cy="310896"/>
          </a:xfrm>
          <a:prstGeom prst="ellipse">
            <a:avLst/>
          </a:prstGeom>
          <a:solidFill>
            <a:srgbClr val="0E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0" name="Picture 139" descr="passport_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9983" y="5385816"/>
            <a:ext cx="201168" cy="20116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7059166" y="5365854"/>
            <a:ext cx="4120515" cy="24109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r>
              <a:rPr sz="1350" b="1" dirty="0">
                <a:solidFill>
                  <a:srgbClr val="FFFFFF"/>
                </a:solidFill>
                <a:latin typeface="Arial"/>
              </a:rPr>
              <a:t>Bid Passport</a:t>
            </a:r>
            <a:r>
              <a:rPr lang="en-US"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IN" sz="1400" b="1" dirty="0">
                <a:solidFill>
                  <a:srgbClr val="FFFFFF"/>
                </a:solidFill>
                <a:latin typeface="Arial"/>
              </a:rPr>
              <a:t>· hash-sealed, </a:t>
            </a:r>
            <a:r>
              <a:rPr lang="en-IN" sz="1400" b="1" dirty="0" err="1">
                <a:solidFill>
                  <a:srgbClr val="FFFFFF"/>
                </a:solidFill>
                <a:latin typeface="Arial"/>
              </a:rPr>
              <a:t>replayable</a:t>
            </a:r>
            <a:r>
              <a:rPr lang="en-IN" sz="1400" b="1" dirty="0">
                <a:solidFill>
                  <a:srgbClr val="FFFFFF"/>
                </a:solidFill>
                <a:latin typeface="Arial"/>
              </a:rPr>
              <a:t> record</a:t>
            </a:r>
            <a:endParaRPr sz="1350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Picture 141" descr="seal__whit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237976" y="5376672"/>
            <a:ext cx="219456" cy="219456"/>
          </a:xfrm>
          <a:prstGeom prst="rect">
            <a:avLst/>
          </a:prstGeom>
        </p:spPr>
      </p:pic>
      <p:pic>
        <p:nvPicPr>
          <p:cNvPr id="143" name="Picture 142" descr="star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8872" y="5385816"/>
            <a:ext cx="201168" cy="201168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6547103" y="5733288"/>
            <a:ext cx="5294376" cy="347472"/>
          </a:xfrm>
          <a:prstGeom prst="roundRect">
            <a:avLst>
              <a:gd name="adj" fmla="val 16000"/>
            </a:avLst>
          </a:prstGeom>
          <a:solidFill>
            <a:srgbClr val="F0F3F7"/>
          </a:solidFill>
          <a:ln w="12700">
            <a:solidFill>
              <a:srgbClr val="8A9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>
                <a:solidFill>
                  <a:srgbClr val="3A434E"/>
                </a:solidFill>
                <a:latin typeface="Arial"/>
              </a:rPr>
              <a:t>GeM</a:t>
            </a:r>
            <a:r>
              <a:rPr lang="en-US" sz="1200" dirty="0">
                <a:solidFill>
                  <a:srgbClr val="3A434E"/>
                </a:solidFill>
                <a:latin typeface="Arial"/>
              </a:rPr>
              <a:t> GTC &amp; ATC  ·  Extensible rule set  ·  </a:t>
            </a:r>
            <a:r>
              <a:rPr lang="en-US" sz="1200" dirty="0" err="1">
                <a:solidFill>
                  <a:srgbClr val="3A434E"/>
                </a:solidFill>
                <a:latin typeface="Arial"/>
              </a:rPr>
              <a:t>pgvector</a:t>
            </a:r>
            <a:r>
              <a:rPr lang="en-US" sz="1200" dirty="0">
                <a:solidFill>
                  <a:srgbClr val="3A434E"/>
                </a:solidFill>
                <a:latin typeface="Arial"/>
              </a:rPr>
              <a:t> 384-d  ·  Audit trail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657600" y="6309360"/>
            <a:ext cx="4876495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spc="25">
                <a:solidFill>
                  <a:srgbClr val="FFFFFF"/>
                </a:solidFill>
                <a:latin typeface="Arial"/>
              </a:rPr>
              <a:t>@Debug Dynasty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201400" y="6309360"/>
            <a:ext cx="749808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AF547409-778F-4CF7-CC5A-B56216D685B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293" y="-9961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5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00584"/>
            <a:ext cx="713232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100584"/>
            <a:ext cx="1828800" cy="71323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700" b="1" spc="25">
                <a:solidFill>
                  <a:srgbClr val="1A2233"/>
                </a:solidFill>
                <a:latin typeface="Arial"/>
              </a:rPr>
              <a:t>DEBUG</a:t>
            </a:r>
          </a:p>
          <a:p>
            <a:pPr algn="l">
              <a:lnSpc>
                <a:spcPct val="92000"/>
              </a:lnSpc>
            </a:pPr>
            <a:r>
              <a:rPr sz="1700" b="1" spc="25">
                <a:solidFill>
                  <a:srgbClr val="0EA05B"/>
                </a:solidFill>
                <a:latin typeface="Arial"/>
              </a:rPr>
              <a:t>DYNASTY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9504" y="33563"/>
            <a:ext cx="6309360" cy="51809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3200" b="1" spc="40" dirty="0">
                <a:solidFill>
                  <a:srgbClr val="16191D"/>
                </a:solidFill>
                <a:latin typeface="OCR A Extended" panose="02010509020102010303" pitchFamily="50" charset="0"/>
              </a:rPr>
              <a:t>TECH</a:t>
            </a:r>
            <a:r>
              <a:rPr lang="en-US" sz="3200" b="1" spc="40" dirty="0">
                <a:solidFill>
                  <a:srgbClr val="16191D"/>
                </a:solidFill>
                <a:latin typeface="OCR A Extended" panose="02010509020102010303" pitchFamily="50" charset="0"/>
              </a:rPr>
              <a:t>NICAL APPROACH</a:t>
            </a:r>
            <a:endParaRPr sz="3200" b="1" spc="40" dirty="0">
              <a:solidFill>
                <a:srgbClr val="16191D"/>
              </a:solidFill>
              <a:latin typeface="OCR A Extended" panose="02010509020102010303" pitchFamily="50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9456" y="914400"/>
            <a:ext cx="3163824" cy="292608"/>
          </a:xfrm>
          <a:prstGeom prst="roundRect">
            <a:avLst>
              <a:gd name="adj" fmla="val 22000"/>
            </a:avLst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50" b="1" spc="45">
                <a:solidFill>
                  <a:srgbClr val="FFFFFF"/>
                </a:solidFill>
                <a:latin typeface="Arial"/>
              </a:rPr>
              <a:t>RECOMMENDED  TECH 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" y="1225296"/>
            <a:ext cx="4224528" cy="4956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15317E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" y="1298448"/>
            <a:ext cx="4078224" cy="274320"/>
          </a:xfrm>
          <a:prstGeom prst="roundRect">
            <a:avLst>
              <a:gd name="adj" fmla="val 16000"/>
            </a:avLst>
          </a:prstGeom>
          <a:solidFill>
            <a:srgbClr val="0E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" y="1298448"/>
            <a:ext cx="1060704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 spc="20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298448"/>
            <a:ext cx="1444751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 spc="20">
                <a:solidFill>
                  <a:srgbClr val="FFFFFF"/>
                </a:solidFill>
                <a:latin typeface="Arial"/>
              </a:rP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298448"/>
            <a:ext cx="1353311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 spc="20" dirty="0">
                <a:solidFill>
                  <a:srgbClr val="FFFFFF"/>
                </a:solidFill>
                <a:latin typeface="Arial"/>
              </a:rPr>
              <a:t>MAIN 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609344"/>
            <a:ext cx="4078224" cy="373075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26464" y="1609344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44368" y="1609344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" y="1609344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Frontend</a:t>
            </a:r>
          </a:p>
        </p:txBody>
      </p:sp>
      <p:pic>
        <p:nvPicPr>
          <p:cNvPr id="18" name="Picture 17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677009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5648" y="1609344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2158D6"/>
                </a:solidFill>
                <a:latin typeface="Arial"/>
              </a:rPr>
              <a:t>React 19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2158D6"/>
                </a:solidFill>
                <a:latin typeface="Arial"/>
              </a:rPr>
              <a:t>+ 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1609344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Upload, status,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results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982419"/>
            <a:ext cx="4078224" cy="373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26464" y="1982419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1982419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1982419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API Layer</a:t>
            </a:r>
          </a:p>
        </p:txBody>
      </p:sp>
      <p:pic>
        <p:nvPicPr>
          <p:cNvPr id="25" name="Picture 24" descr="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2050084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55648" y="1982419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2158D6"/>
                </a:solidFill>
                <a:latin typeface="Arial"/>
              </a:rPr>
              <a:t>FastAPI +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2158D6"/>
                </a:solidFill>
                <a:latin typeface="Arial"/>
              </a:rPr>
              <a:t>Uvicorn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1982419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 dirty="0">
                <a:solidFill>
                  <a:srgbClr val="2A3138"/>
                </a:solidFill>
                <a:latin typeface="Arial"/>
              </a:rPr>
              <a:t>4 REST routes,</a:t>
            </a:r>
          </a:p>
          <a:p>
            <a:pPr algn="l">
              <a:lnSpc>
                <a:spcPct val="86000"/>
              </a:lnSpc>
            </a:pPr>
            <a:r>
              <a:rPr sz="1200" b="0" dirty="0">
                <a:solidFill>
                  <a:srgbClr val="2A3138"/>
                </a:solidFill>
                <a:latin typeface="Arial"/>
              </a:rPr>
              <a:t>CORS, auto docs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2355494"/>
            <a:ext cx="4078224" cy="373075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26464" y="2355494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44368" y="2355494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" y="2355494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Async Jobs</a:t>
            </a:r>
          </a:p>
        </p:txBody>
      </p:sp>
      <p:pic>
        <p:nvPicPr>
          <p:cNvPr id="32" name="Picture 31" descr="db_job__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2423160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55648" y="2355494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2158D6"/>
                </a:solidFill>
                <a:latin typeface="Arial"/>
              </a:rPr>
              <a:t>Background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2158D6"/>
                </a:solidFill>
                <a:latin typeface="Arial"/>
              </a:rPr>
              <a:t>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2355494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Non-blocking run,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job_id at once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2728569"/>
            <a:ext cx="4078224" cy="373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426464" y="2728569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44368" y="2728569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328" y="2728569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PDF Parsing</a:t>
            </a:r>
          </a:p>
        </p:txBody>
      </p:sp>
      <p:pic>
        <p:nvPicPr>
          <p:cNvPr id="39" name="Picture 38" descr="pdf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2796235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755648" y="2728569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C0392B"/>
                </a:solidFill>
                <a:latin typeface="Arial"/>
              </a:rPr>
              <a:t>PyMuPDF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9232" y="2728569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Per-page text +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page number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" y="3101644"/>
            <a:ext cx="4078224" cy="373075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6464" y="3101644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944368" y="3101644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8328" y="3101644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Rule Engine</a:t>
            </a:r>
          </a:p>
        </p:txBody>
      </p:sp>
      <p:pic>
        <p:nvPicPr>
          <p:cNvPr id="46" name="Picture 45" descr="list_checks__sl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" y="3169310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55648" y="3101644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E07C0E"/>
                </a:solidFill>
                <a:latin typeface="Arial"/>
              </a:rPr>
              <a:t>Python re +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E07C0E"/>
                </a:solidFill>
                <a:latin typeface="Arial"/>
              </a:rPr>
              <a:t>rules.json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9232" y="3101644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Rule checks with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severity tags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" y="3474720"/>
            <a:ext cx="4078224" cy="373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426464" y="3474720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944368" y="3474720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8328" y="3474720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Validators</a:t>
            </a:r>
          </a:p>
        </p:txBody>
      </p:sp>
      <p:pic>
        <p:nvPicPr>
          <p:cNvPr id="53" name="Picture 52" descr="shield_check__sl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1328" y="3542385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55648" y="3474720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E07C0E"/>
                </a:solidFill>
                <a:latin typeface="Arial"/>
              </a:rPr>
              <a:t>GSTIN · PAN ·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E07C0E"/>
                </a:solidFill>
                <a:latin typeface="Arial"/>
              </a:rPr>
              <a:t>EMD regex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99232" y="3474720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Format-true, not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keyword-true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3847795"/>
            <a:ext cx="4078224" cy="373075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426464" y="3847795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944368" y="3847795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8328" y="3847795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Embeddings</a:t>
            </a:r>
          </a:p>
        </p:txBody>
      </p:sp>
      <p:pic>
        <p:nvPicPr>
          <p:cNvPr id="60" name="Picture 59" descr="hfa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1328" y="3915460"/>
            <a:ext cx="237744" cy="2377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755648" y="3847795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all-MiniLM-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L6-v2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9232" y="3847795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384-d sentence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vectors, local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" y="4220870"/>
            <a:ext cx="4078224" cy="373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426464" y="4220870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944368" y="4220870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8328" y="4220870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Vector Search</a:t>
            </a:r>
          </a:p>
        </p:txBody>
      </p:sp>
      <p:pic>
        <p:nvPicPr>
          <p:cNvPr id="67" name="Picture 66" descr="pgvec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1328" y="4288536"/>
            <a:ext cx="237744" cy="23774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755648" y="4220870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pgvector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Vector(384)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9232" y="4220870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L2 top-5 rulebook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retrieval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" y="4593945"/>
            <a:ext cx="4078224" cy="373075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426464" y="4593945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944368" y="4593945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38328" y="4593945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LLM Layer</a:t>
            </a:r>
          </a:p>
        </p:txBody>
      </p:sp>
      <p:pic>
        <p:nvPicPr>
          <p:cNvPr id="74" name="Picture 73" descr="gemin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1328" y="4661611"/>
            <a:ext cx="237744" cy="23774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55648" y="4593945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15317E"/>
                </a:solidFill>
                <a:latin typeface="Arial"/>
              </a:rPr>
              <a:t>Gemini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15317E"/>
                </a:solidFill>
                <a:latin typeface="Arial"/>
              </a:rPr>
              <a:t>2.0 Flash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99232" y="4593945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Grounded verdict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+ confidence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2608" y="4967020"/>
            <a:ext cx="4078224" cy="373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426464" y="4967020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944368" y="4967020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38328" y="4967020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Database</a:t>
            </a:r>
          </a:p>
        </p:txBody>
      </p:sp>
      <p:pic>
        <p:nvPicPr>
          <p:cNvPr id="81" name="Picture 80" descr="postgr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1328" y="5034686"/>
            <a:ext cx="237744" cy="237744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755648" y="4967020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23934D"/>
                </a:solidFill>
                <a:latin typeface="Arial"/>
              </a:rPr>
              <a:t>Neon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23934D"/>
                </a:solidFill>
                <a:latin typeface="Arial"/>
              </a:rPr>
              <a:t>Postgres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99232" y="4967020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4 tables, full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audit trail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2608" y="5340096"/>
            <a:ext cx="4078224" cy="373075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426464" y="5340096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944368" y="5340096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38328" y="5340096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ORM</a:t>
            </a:r>
          </a:p>
        </p:txBody>
      </p:sp>
      <p:pic>
        <p:nvPicPr>
          <p:cNvPr id="88" name="Picture 87" descr="database__sla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1328" y="5407761"/>
            <a:ext cx="237744" cy="23774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55648" y="5340096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23934D"/>
                </a:solidFill>
                <a:latin typeface="Arial"/>
              </a:rPr>
              <a:t>SQLAlchemy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23934D"/>
                </a:solidFill>
                <a:latin typeface="Arial"/>
              </a:rPr>
              <a:t>2.0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99232" y="5340096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Declarative models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+ sessions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" y="5713171"/>
            <a:ext cx="4078224" cy="373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426464" y="5713171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944368" y="5713171"/>
            <a:ext cx="7315" cy="37307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38328" y="5713171"/>
            <a:ext cx="1042415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1">
                <a:solidFill>
                  <a:srgbClr val="16191D"/>
                </a:solidFill>
                <a:latin typeface="Arial"/>
              </a:rPr>
              <a:t>Secrets</a:t>
            </a:r>
          </a:p>
        </p:txBody>
      </p:sp>
      <p:pic>
        <p:nvPicPr>
          <p:cNvPr id="95" name="Picture 94" descr="lock_server__sla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1328" y="5780836"/>
            <a:ext cx="237744" cy="237744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755648" y="5713171"/>
            <a:ext cx="1133856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6B7480"/>
                </a:solidFill>
                <a:latin typeface="Arial"/>
              </a:rPr>
              <a:t>python-dotenv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99232" y="5713171"/>
            <a:ext cx="1335023" cy="37307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Keys stay out of</a:t>
            </a:r>
          </a:p>
          <a:p>
            <a:pPr algn="l">
              <a:lnSpc>
                <a:spcPct val="86000"/>
              </a:lnSpc>
            </a:pPr>
            <a:r>
              <a:rPr sz="1200" b="0">
                <a:solidFill>
                  <a:srgbClr val="2A3138"/>
                </a:solidFill>
                <a:latin typeface="Arial"/>
              </a:rPr>
              <a:t>the codebase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2608" y="1609344"/>
            <a:ext cx="4078224" cy="731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292608" y="6086246"/>
            <a:ext cx="4078224" cy="7315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4590288" y="914400"/>
            <a:ext cx="3017520" cy="292608"/>
          </a:xfrm>
          <a:prstGeom prst="roundRect">
            <a:avLst>
              <a:gd name="adj" fmla="val 22000"/>
            </a:avLst>
          </a:prstGeom>
          <a:solidFill>
            <a:srgbClr val="153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250" b="1" spc="45">
                <a:solidFill>
                  <a:srgbClr val="FFFFFF"/>
                </a:solidFill>
                <a:latin typeface="Arial"/>
              </a:rPr>
              <a:t>ARCHITECTURE  OF  PROTOTYPE</a:t>
            </a:r>
          </a:p>
        </p:txBody>
      </p:sp>
      <p:pic>
        <p:nvPicPr>
          <p:cNvPr id="101" name="Picture 100" descr="star_gol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0655" y="923544"/>
            <a:ext cx="274320" cy="27432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131551" y="914400"/>
            <a:ext cx="1828800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50" b="1">
                <a:solidFill>
                  <a:srgbClr val="16191D"/>
                </a:solidFill>
                <a:latin typeface="Arial"/>
              </a:rPr>
              <a:t>-  Innovation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590288" y="1225296"/>
            <a:ext cx="7379208" cy="4956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15317E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18303" y="1335024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 w="1778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4754879" y="1371600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7C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6" name="Picture 105" descr="pdf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1408176"/>
            <a:ext cx="237744" cy="23774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020055" y="1371600"/>
            <a:ext cx="99303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SOURCE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DOCS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773167" y="1719072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800599" y="1719072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2F3742"/>
                </a:solidFill>
                <a:latin typeface="Arial"/>
              </a:rPr>
              <a:t>Tender + ATC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2F3742"/>
                </a:solidFill>
                <a:latin typeface="Arial"/>
              </a:rPr>
              <a:t>PDF</a:t>
            </a:r>
          </a:p>
        </p:txBody>
      </p:sp>
      <p:sp>
        <p:nvSpPr>
          <p:cNvPr id="110" name="Down Arrow 109"/>
          <p:cNvSpPr/>
          <p:nvPr/>
        </p:nvSpPr>
        <p:spPr>
          <a:xfrm>
            <a:off x="5342839" y="2084831"/>
            <a:ext cx="109728" cy="50292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4773167" y="2135124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800599" y="2135124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2F3742"/>
                </a:solidFill>
                <a:latin typeface="Arial"/>
              </a:rPr>
              <a:t>Bidder bid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2F3742"/>
                </a:solidFill>
                <a:latin typeface="Arial"/>
              </a:rPr>
              <a:t>PDF</a:t>
            </a:r>
          </a:p>
        </p:txBody>
      </p:sp>
      <p:sp>
        <p:nvSpPr>
          <p:cNvPr id="113" name="Down Arrow 112"/>
          <p:cNvSpPr/>
          <p:nvPr/>
        </p:nvSpPr>
        <p:spPr>
          <a:xfrm>
            <a:off x="5342839" y="2500884"/>
            <a:ext cx="109728" cy="50292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4773167" y="255117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800599" y="255117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2F3742"/>
                </a:solidFill>
                <a:latin typeface="Arial"/>
              </a:rPr>
              <a:t>GeM GTC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2F3742"/>
                </a:solidFill>
                <a:latin typeface="Arial"/>
              </a:rPr>
              <a:t>rulebook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159398" y="1335024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778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6195974" y="1371600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8" name="Picture 117" descr="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06" y="1408176"/>
            <a:ext cx="237744" cy="237744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6461150" y="1371600"/>
            <a:ext cx="99303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API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INTAKE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14262" y="1719072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41694" y="1719072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POST /upload</a:t>
            </a:r>
          </a:p>
        </p:txBody>
      </p:sp>
      <p:sp>
        <p:nvSpPr>
          <p:cNvPr id="122" name="Down Arrow 121"/>
          <p:cNvSpPr/>
          <p:nvPr/>
        </p:nvSpPr>
        <p:spPr>
          <a:xfrm>
            <a:off x="6783933" y="2084831"/>
            <a:ext cx="109728" cy="50292"/>
          </a:xfrm>
          <a:prstGeom prst="downArrow">
            <a:avLst/>
          </a:prstGeom>
          <a:solidFill>
            <a:srgbClr val="21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6214262" y="2135124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241694" y="2135124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PDF only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≤ 20 MB</a:t>
            </a:r>
          </a:p>
        </p:txBody>
      </p:sp>
      <p:sp>
        <p:nvSpPr>
          <p:cNvPr id="125" name="Down Arrow 124"/>
          <p:cNvSpPr/>
          <p:nvPr/>
        </p:nvSpPr>
        <p:spPr>
          <a:xfrm>
            <a:off x="6783933" y="2500884"/>
            <a:ext cx="109728" cy="50292"/>
          </a:xfrm>
          <a:prstGeom prst="downArrow">
            <a:avLst/>
          </a:prstGeom>
          <a:solidFill>
            <a:srgbClr val="21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6214262" y="255117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241694" y="255117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UUID-safe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file store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600492" y="1335024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778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7637068" y="1371600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0" name="Picture 129" descr="db_job__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4500" y="1408176"/>
            <a:ext cx="237744" cy="237744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7902244" y="1371600"/>
            <a:ext cx="99303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JOB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QUEUE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655356" y="1719072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682788" y="1719072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job row =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queued</a:t>
            </a:r>
          </a:p>
        </p:txBody>
      </p:sp>
      <p:sp>
        <p:nvSpPr>
          <p:cNvPr id="134" name="Down Arrow 133"/>
          <p:cNvSpPr/>
          <p:nvPr/>
        </p:nvSpPr>
        <p:spPr>
          <a:xfrm>
            <a:off x="8225027" y="2084831"/>
            <a:ext cx="109728" cy="50292"/>
          </a:xfrm>
          <a:prstGeom prst="downArrow">
            <a:avLst/>
          </a:prstGeom>
          <a:solidFill>
            <a:srgbClr val="21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7655356" y="2135124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682788" y="2135124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Background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Tasks</a:t>
            </a:r>
          </a:p>
        </p:txBody>
      </p:sp>
      <p:sp>
        <p:nvSpPr>
          <p:cNvPr id="137" name="Down Arrow 136"/>
          <p:cNvSpPr/>
          <p:nvPr/>
        </p:nvSpPr>
        <p:spPr>
          <a:xfrm>
            <a:off x="8225027" y="2500884"/>
            <a:ext cx="109728" cy="50292"/>
          </a:xfrm>
          <a:prstGeom prst="downArrow">
            <a:avLst/>
          </a:prstGeom>
          <a:solidFill>
            <a:srgbClr val="21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7655356" y="255117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682788" y="255117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job_id back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instantly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041587" y="1335024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778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9078163" y="1371600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2" name="Picture 141" descr="file_text__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5595" y="1408176"/>
            <a:ext cx="237744" cy="23774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9343339" y="1371600"/>
            <a:ext cx="99303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READ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TEXT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096451" y="1719072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123883" y="1719072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PyMuPDF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open</a:t>
            </a:r>
          </a:p>
        </p:txBody>
      </p:sp>
      <p:sp>
        <p:nvSpPr>
          <p:cNvPr id="146" name="Down Arrow 145"/>
          <p:cNvSpPr/>
          <p:nvPr/>
        </p:nvSpPr>
        <p:spPr>
          <a:xfrm>
            <a:off x="9666122" y="2084831"/>
            <a:ext cx="109728" cy="50292"/>
          </a:xfrm>
          <a:prstGeom prst="downArrow">
            <a:avLst/>
          </a:prstGeom>
          <a:solidFill>
            <a:srgbClr val="21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9096451" y="2135124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123883" y="2135124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clean +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normalise</a:t>
            </a:r>
          </a:p>
        </p:txBody>
      </p:sp>
      <p:sp>
        <p:nvSpPr>
          <p:cNvPr id="149" name="Down Arrow 148"/>
          <p:cNvSpPr/>
          <p:nvPr/>
        </p:nvSpPr>
        <p:spPr>
          <a:xfrm>
            <a:off x="9666122" y="2500884"/>
            <a:ext cx="109728" cy="50292"/>
          </a:xfrm>
          <a:prstGeom prst="downArrow">
            <a:avLst/>
          </a:prstGeom>
          <a:solidFill>
            <a:srgbClr val="21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9096451" y="255117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123883" y="255117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page kept as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F5F"/>
                </a:solidFill>
                <a:latin typeface="Arial"/>
              </a:rPr>
              <a:t>evidence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482681" y="1335024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FDF2E4"/>
          </a:solidFill>
          <a:ln w="1778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10519257" y="1371600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" name="Picture 153" descr="list_checks_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46689" y="1408176"/>
            <a:ext cx="237744" cy="237744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0784433" y="1371600"/>
            <a:ext cx="81015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RULE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ENGINE</a:t>
            </a:r>
          </a:p>
        </p:txBody>
      </p:sp>
      <p:pic>
        <p:nvPicPr>
          <p:cNvPr id="156" name="Picture 155" descr="star_smal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94592" y="1417320"/>
            <a:ext cx="173736" cy="173736"/>
          </a:xfrm>
          <a:prstGeom prst="rect">
            <a:avLst/>
          </a:prstGeom>
        </p:spPr>
      </p:pic>
      <p:sp>
        <p:nvSpPr>
          <p:cNvPr id="157" name="Rounded Rectangle 156"/>
          <p:cNvSpPr/>
          <p:nvPr/>
        </p:nvSpPr>
        <p:spPr>
          <a:xfrm>
            <a:off x="10537545" y="1719072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564977" y="1719072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rules.json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R001 → Rn</a:t>
            </a:r>
          </a:p>
        </p:txBody>
      </p:sp>
      <p:sp>
        <p:nvSpPr>
          <p:cNvPr id="159" name="Down Arrow 158"/>
          <p:cNvSpPr/>
          <p:nvPr/>
        </p:nvSpPr>
        <p:spPr>
          <a:xfrm>
            <a:off x="11107216" y="2084831"/>
            <a:ext cx="109728" cy="50292"/>
          </a:xfrm>
          <a:prstGeom prst="downArrow">
            <a:avLst/>
          </a:prstGeom>
          <a:solidFill>
            <a:srgbClr val="E0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10537545" y="2135124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564977" y="2135124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keyword · regex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· range</a:t>
            </a:r>
          </a:p>
        </p:txBody>
      </p:sp>
      <p:sp>
        <p:nvSpPr>
          <p:cNvPr id="162" name="Down Arrow 161"/>
          <p:cNvSpPr/>
          <p:nvPr/>
        </p:nvSpPr>
        <p:spPr>
          <a:xfrm>
            <a:off x="11107216" y="2500884"/>
            <a:ext cx="109728" cy="50292"/>
          </a:xfrm>
          <a:prstGeom prst="downArrow">
            <a:avLst/>
          </a:prstGeom>
          <a:solidFill>
            <a:srgbClr val="E0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10537545" y="255117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564977" y="255117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negation guard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blocks 'N/A'</a:t>
            </a:r>
          </a:p>
        </p:txBody>
      </p:sp>
      <p:sp>
        <p:nvSpPr>
          <p:cNvPr id="165" name="Right Arrow 164"/>
          <p:cNvSpPr/>
          <p:nvPr/>
        </p:nvSpPr>
        <p:spPr>
          <a:xfrm>
            <a:off x="6072530" y="2112263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ight Arrow 165"/>
          <p:cNvSpPr/>
          <p:nvPr/>
        </p:nvSpPr>
        <p:spPr>
          <a:xfrm>
            <a:off x="7513624" y="2112263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ight Arrow 166"/>
          <p:cNvSpPr/>
          <p:nvPr/>
        </p:nvSpPr>
        <p:spPr>
          <a:xfrm>
            <a:off x="8954719" y="2112263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ight Arrow 167"/>
          <p:cNvSpPr/>
          <p:nvPr/>
        </p:nvSpPr>
        <p:spPr>
          <a:xfrm>
            <a:off x="10395813" y="2112263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1146078" y="3026664"/>
            <a:ext cx="32004" cy="5486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5397703" y="3081528"/>
            <a:ext cx="5764377" cy="3200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Down Arrow 170"/>
          <p:cNvSpPr/>
          <p:nvPr/>
        </p:nvSpPr>
        <p:spPr>
          <a:xfrm>
            <a:off x="5306263" y="3113532"/>
            <a:ext cx="182880" cy="100584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4718303" y="3218688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F1EBFE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4754879" y="3255264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" name="Picture 173" descr="hfa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3291840"/>
            <a:ext cx="237744" cy="237744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5020055" y="3255264"/>
            <a:ext cx="99303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EMBED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QUERY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773167" y="360273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800599" y="360273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sentence-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transformers</a:t>
            </a:r>
          </a:p>
        </p:txBody>
      </p:sp>
      <p:sp>
        <p:nvSpPr>
          <p:cNvPr id="178" name="Down Arrow 177"/>
          <p:cNvSpPr/>
          <p:nvPr/>
        </p:nvSpPr>
        <p:spPr>
          <a:xfrm>
            <a:off x="5342839" y="3968496"/>
            <a:ext cx="109728" cy="50292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4773167" y="4018787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4800599" y="4018787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all-MiniLM-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L6-v2</a:t>
            </a:r>
          </a:p>
        </p:txBody>
      </p:sp>
      <p:sp>
        <p:nvSpPr>
          <p:cNvPr id="181" name="Down Arrow 180"/>
          <p:cNvSpPr/>
          <p:nvPr/>
        </p:nvSpPr>
        <p:spPr>
          <a:xfrm>
            <a:off x="5342839" y="4384548"/>
            <a:ext cx="109728" cy="50292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4773167" y="4434840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4800599" y="4434840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384-d vector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per query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159398" y="3218688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F1EBFE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6195974" y="3255264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6" name="Picture 185" descr="pgvec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406" y="3291840"/>
            <a:ext cx="237744" cy="237744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6461150" y="3255264"/>
            <a:ext cx="81015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VECTOR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pic>
        <p:nvPicPr>
          <p:cNvPr id="188" name="Picture 187" descr="star_smal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1308" y="3300984"/>
            <a:ext cx="173736" cy="173736"/>
          </a:xfrm>
          <a:prstGeom prst="rect">
            <a:avLst/>
          </a:prstGeom>
        </p:spPr>
      </p:pic>
      <p:sp>
        <p:nvSpPr>
          <p:cNvPr id="189" name="Rounded Rectangle 188"/>
          <p:cNvSpPr/>
          <p:nvPr/>
        </p:nvSpPr>
        <p:spPr>
          <a:xfrm>
            <a:off x="6214262" y="360273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241694" y="360273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pgvector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L2 distance</a:t>
            </a:r>
          </a:p>
        </p:txBody>
      </p:sp>
      <p:sp>
        <p:nvSpPr>
          <p:cNvPr id="191" name="Down Arrow 190"/>
          <p:cNvSpPr/>
          <p:nvPr/>
        </p:nvSpPr>
        <p:spPr>
          <a:xfrm>
            <a:off x="6783933" y="3968496"/>
            <a:ext cx="109728" cy="50292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6214262" y="4018787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41694" y="4018787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top-5 rule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chunks</a:t>
            </a:r>
          </a:p>
        </p:txBody>
      </p:sp>
      <p:sp>
        <p:nvSpPr>
          <p:cNvPr id="194" name="Down Arrow 193"/>
          <p:cNvSpPr/>
          <p:nvPr/>
        </p:nvSpPr>
        <p:spPr>
          <a:xfrm>
            <a:off x="6783933" y="4384548"/>
            <a:ext cx="109728" cy="50292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ounded Rectangle 194"/>
          <p:cNvSpPr/>
          <p:nvPr/>
        </p:nvSpPr>
        <p:spPr>
          <a:xfrm>
            <a:off x="6214262" y="4434840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6241694" y="4434840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20 embedded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3F1580"/>
                </a:solidFill>
                <a:latin typeface="Arial"/>
              </a:rPr>
              <a:t>GeM rules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7600492" y="3218688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E9EEF9"/>
          </a:solidFill>
          <a:ln w="17780">
            <a:solidFill>
              <a:srgbClr val="153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ounded Rectangle 197"/>
          <p:cNvSpPr/>
          <p:nvPr/>
        </p:nvSpPr>
        <p:spPr>
          <a:xfrm>
            <a:off x="7637068" y="3255264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1E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9" name="Picture 198" descr="gemin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4500" y="3291840"/>
            <a:ext cx="237744" cy="237744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7902244" y="3255264"/>
            <a:ext cx="81015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LLM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VERDICT</a:t>
            </a:r>
          </a:p>
        </p:txBody>
      </p:sp>
      <p:pic>
        <p:nvPicPr>
          <p:cNvPr id="201" name="Picture 200" descr="star_smal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2403" y="3300984"/>
            <a:ext cx="173736" cy="173736"/>
          </a:xfrm>
          <a:prstGeom prst="rect">
            <a:avLst/>
          </a:prstGeom>
        </p:spPr>
      </p:pic>
      <p:sp>
        <p:nvSpPr>
          <p:cNvPr id="202" name="Rounded Rectangle 201"/>
          <p:cNvSpPr/>
          <p:nvPr/>
        </p:nvSpPr>
        <p:spPr>
          <a:xfrm>
            <a:off x="7655356" y="360273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3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7682788" y="360273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257"/>
                </a:solidFill>
                <a:latin typeface="Arial"/>
              </a:rPr>
              <a:t>Gemini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257"/>
                </a:solidFill>
                <a:latin typeface="Arial"/>
              </a:rPr>
              <a:t>2.0 Flash</a:t>
            </a:r>
          </a:p>
        </p:txBody>
      </p:sp>
      <p:sp>
        <p:nvSpPr>
          <p:cNvPr id="204" name="Down Arrow 203"/>
          <p:cNvSpPr/>
          <p:nvPr/>
        </p:nvSpPr>
        <p:spPr>
          <a:xfrm>
            <a:off x="8225027" y="3968496"/>
            <a:ext cx="109728" cy="50292"/>
          </a:xfrm>
          <a:prstGeom prst="downArrow">
            <a:avLst/>
          </a:prstGeom>
          <a:solidFill>
            <a:srgbClr val="153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ounded Rectangle 204"/>
          <p:cNvSpPr/>
          <p:nvPr/>
        </p:nvSpPr>
        <p:spPr>
          <a:xfrm>
            <a:off x="7655356" y="4018787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3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7682788" y="4018787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257"/>
                </a:solidFill>
                <a:latin typeface="Arial"/>
              </a:rPr>
              <a:t>verdict +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257"/>
                </a:solidFill>
                <a:latin typeface="Arial"/>
              </a:rPr>
              <a:t>one-line reason</a:t>
            </a:r>
          </a:p>
        </p:txBody>
      </p:sp>
      <p:sp>
        <p:nvSpPr>
          <p:cNvPr id="207" name="Down Arrow 206"/>
          <p:cNvSpPr/>
          <p:nvPr/>
        </p:nvSpPr>
        <p:spPr>
          <a:xfrm>
            <a:off x="8225027" y="4384548"/>
            <a:ext cx="109728" cy="50292"/>
          </a:xfrm>
          <a:prstGeom prst="downArrow">
            <a:avLst/>
          </a:prstGeom>
          <a:solidFill>
            <a:srgbClr val="153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ounded Rectangle 207"/>
          <p:cNvSpPr/>
          <p:nvPr/>
        </p:nvSpPr>
        <p:spPr>
          <a:xfrm>
            <a:off x="7655356" y="4434840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3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7682788" y="4434840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257"/>
                </a:solidFill>
                <a:latin typeface="Arial"/>
              </a:rPr>
              <a:t>confidence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E2257"/>
                </a:solidFill>
                <a:latin typeface="Arial"/>
              </a:rPr>
              <a:t>0.0 – 1.0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041587" y="3218688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FDF2E4"/>
          </a:solidFill>
          <a:ln w="1778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ounded Rectangle 210"/>
          <p:cNvSpPr/>
          <p:nvPr/>
        </p:nvSpPr>
        <p:spPr>
          <a:xfrm>
            <a:off x="9078163" y="3255264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2" name="Picture 211" descr="gauge__whi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5595" y="3291840"/>
            <a:ext cx="237744" cy="237744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9343339" y="3255264"/>
            <a:ext cx="99303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SCORE +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VETO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9096451" y="360273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9123883" y="360273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weights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40 / 15 / 5</a:t>
            </a:r>
          </a:p>
        </p:txBody>
      </p:sp>
      <p:sp>
        <p:nvSpPr>
          <p:cNvPr id="216" name="Down Arrow 215"/>
          <p:cNvSpPr/>
          <p:nvPr/>
        </p:nvSpPr>
        <p:spPr>
          <a:xfrm>
            <a:off x="9666122" y="3968496"/>
            <a:ext cx="109728" cy="50292"/>
          </a:xfrm>
          <a:prstGeom prst="downArrow">
            <a:avLst/>
          </a:prstGeom>
          <a:solidFill>
            <a:srgbClr val="E0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ounded Rectangle 216"/>
          <p:cNvSpPr/>
          <p:nvPr/>
        </p:nvSpPr>
        <p:spPr>
          <a:xfrm>
            <a:off x="9096451" y="4018787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123883" y="4018787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RAG delta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± 10 capped</a:t>
            </a:r>
          </a:p>
        </p:txBody>
      </p:sp>
      <p:sp>
        <p:nvSpPr>
          <p:cNvPr id="219" name="Down Arrow 218"/>
          <p:cNvSpPr/>
          <p:nvPr/>
        </p:nvSpPr>
        <p:spPr>
          <a:xfrm>
            <a:off x="9666122" y="4384548"/>
            <a:ext cx="109728" cy="50292"/>
          </a:xfrm>
          <a:prstGeom prst="downArrow">
            <a:avLst/>
          </a:prstGeom>
          <a:solidFill>
            <a:srgbClr val="E0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ounded Rectangle 219"/>
          <p:cNvSpPr/>
          <p:nvPr/>
        </p:nvSpPr>
        <p:spPr>
          <a:xfrm>
            <a:off x="9096451" y="4434840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9123883" y="4434840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critical fail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= veto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482681" y="3218688"/>
            <a:ext cx="1358798" cy="1691640"/>
          </a:xfrm>
          <a:prstGeom prst="roundRect">
            <a:avLst>
              <a:gd name="adj" fmla="val 5000"/>
            </a:avLst>
          </a:prstGeom>
          <a:solidFill>
            <a:srgbClr val="E6F6EC"/>
          </a:solidFill>
          <a:ln w="1778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ounded Rectangle 222"/>
          <p:cNvSpPr/>
          <p:nvPr/>
        </p:nvSpPr>
        <p:spPr>
          <a:xfrm>
            <a:off x="10519257" y="3255264"/>
            <a:ext cx="1285646" cy="310896"/>
          </a:xfrm>
          <a:prstGeom prst="roundRect">
            <a:avLst>
              <a:gd name="adj" fmla="val 20000"/>
            </a:avLst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4" name="Picture 223" descr="postgr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6689" y="3291840"/>
            <a:ext cx="237744" cy="237744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10784433" y="3255264"/>
            <a:ext cx="993038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SAVE +</a:t>
            </a:r>
          </a:p>
          <a:p>
            <a:pPr algn="ctr">
              <a:lnSpc>
                <a:spcPct val="84000"/>
              </a:lnSpc>
            </a:pPr>
            <a:r>
              <a:rPr sz="1150" b="1" spc="5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0537545" y="3602736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0564977" y="3602736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Neon Postgres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4 tables</a:t>
            </a:r>
          </a:p>
        </p:txBody>
      </p:sp>
      <p:sp>
        <p:nvSpPr>
          <p:cNvPr id="228" name="Down Arrow 227"/>
          <p:cNvSpPr/>
          <p:nvPr/>
        </p:nvSpPr>
        <p:spPr>
          <a:xfrm>
            <a:off x="11107216" y="3968496"/>
            <a:ext cx="109728" cy="50292"/>
          </a:xfrm>
          <a:prstGeom prst="downArrow">
            <a:avLst/>
          </a:prstGeom>
          <a:solidFill>
            <a:srgbClr val="23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ounded Rectangle 228"/>
          <p:cNvSpPr/>
          <p:nvPr/>
        </p:nvSpPr>
        <p:spPr>
          <a:xfrm>
            <a:off x="10537545" y="4018787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10564977" y="4018787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rule + RAG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rows saved</a:t>
            </a:r>
          </a:p>
        </p:txBody>
      </p:sp>
      <p:sp>
        <p:nvSpPr>
          <p:cNvPr id="231" name="Down Arrow 230"/>
          <p:cNvSpPr/>
          <p:nvPr/>
        </p:nvSpPr>
        <p:spPr>
          <a:xfrm>
            <a:off x="11107216" y="4384548"/>
            <a:ext cx="109728" cy="50292"/>
          </a:xfrm>
          <a:prstGeom prst="downArrow">
            <a:avLst/>
          </a:prstGeom>
          <a:solidFill>
            <a:srgbClr val="23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ounded Rectangle 231"/>
          <p:cNvSpPr/>
          <p:nvPr/>
        </p:nvSpPr>
        <p:spPr>
          <a:xfrm>
            <a:off x="10537545" y="4434840"/>
            <a:ext cx="1249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10564977" y="4434840"/>
            <a:ext cx="1194206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replayable</a:t>
            </a:r>
          </a:p>
          <a:p>
            <a:pPr algn="ctr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audit trail</a:t>
            </a:r>
          </a:p>
        </p:txBody>
      </p:sp>
      <p:sp>
        <p:nvSpPr>
          <p:cNvPr id="234" name="Right Arrow 233"/>
          <p:cNvSpPr/>
          <p:nvPr/>
        </p:nvSpPr>
        <p:spPr>
          <a:xfrm>
            <a:off x="6072530" y="3995928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ight Arrow 234"/>
          <p:cNvSpPr/>
          <p:nvPr/>
        </p:nvSpPr>
        <p:spPr>
          <a:xfrm>
            <a:off x="7513624" y="3995928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ight Arrow 235"/>
          <p:cNvSpPr/>
          <p:nvPr/>
        </p:nvSpPr>
        <p:spPr>
          <a:xfrm>
            <a:off x="8954719" y="3995928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ight Arrow 236"/>
          <p:cNvSpPr/>
          <p:nvPr/>
        </p:nvSpPr>
        <p:spPr>
          <a:xfrm>
            <a:off x="10395813" y="3995928"/>
            <a:ext cx="91440" cy="13716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6822795" y="4910328"/>
            <a:ext cx="32004" cy="457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8263890" y="4910328"/>
            <a:ext cx="32004" cy="457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9704984" y="4910328"/>
            <a:ext cx="32004" cy="457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6838797" y="4956048"/>
            <a:ext cx="2882188" cy="3200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Down Arrow 241"/>
          <p:cNvSpPr/>
          <p:nvPr/>
        </p:nvSpPr>
        <p:spPr>
          <a:xfrm>
            <a:off x="8188452" y="4988052"/>
            <a:ext cx="182880" cy="91440"/>
          </a:xfrm>
          <a:prstGeom prst="down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ounded Rectangle 242"/>
          <p:cNvSpPr/>
          <p:nvPr/>
        </p:nvSpPr>
        <p:spPr>
          <a:xfrm>
            <a:off x="4718303" y="5102352"/>
            <a:ext cx="2313432" cy="438912"/>
          </a:xfrm>
          <a:prstGeom prst="roundRect">
            <a:avLst>
              <a:gd name="adj" fmla="val 16000"/>
            </a:avLst>
          </a:prstGeom>
          <a:solidFill>
            <a:srgbClr val="E6F6EC"/>
          </a:solidFill>
          <a:ln w="1905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4800599" y="5166360"/>
            <a:ext cx="310896" cy="310896"/>
          </a:xfrm>
          <a:prstGeom prst="ellipse">
            <a:avLst/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5" name="Picture 244" descr="verdict__whi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55464" y="5221224"/>
            <a:ext cx="201168" cy="201168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5175503" y="5102352"/>
            <a:ext cx="1783079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COMPLIANT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0B4A28"/>
                </a:solidFill>
                <a:latin typeface="Arial"/>
              </a:rPr>
              <a:t>score ≥ 85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7123175" y="5102352"/>
            <a:ext cx="2313432" cy="438912"/>
          </a:xfrm>
          <a:prstGeom prst="roundRect">
            <a:avLst>
              <a:gd name="adj" fmla="val 16000"/>
            </a:avLst>
          </a:prstGeom>
          <a:solidFill>
            <a:srgbClr val="FDF2E4"/>
          </a:solidFill>
          <a:ln w="1905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7205471" y="5166360"/>
            <a:ext cx="310896" cy="310896"/>
          </a:xfrm>
          <a:prstGeom prst="ellipse">
            <a:avLst/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9" name="Picture 248" descr="m_offic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60336" y="5221224"/>
            <a:ext cx="201168" cy="201168"/>
          </a:xfrm>
          <a:prstGeom prst="rect">
            <a:avLst/>
          </a:prstGeom>
        </p:spPr>
      </p:pic>
      <p:sp>
        <p:nvSpPr>
          <p:cNvPr id="250" name="TextBox 249"/>
          <p:cNvSpPr txBox="1"/>
          <p:nvPr/>
        </p:nvSpPr>
        <p:spPr>
          <a:xfrm>
            <a:off x="7580375" y="5102352"/>
            <a:ext cx="1783079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NEEDS REVIEW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6B3B06"/>
                </a:solidFill>
                <a:latin typeface="Arial"/>
              </a:rPr>
              <a:t>score &lt; 85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9528047" y="5102352"/>
            <a:ext cx="2313432" cy="438912"/>
          </a:xfrm>
          <a:prstGeom prst="roundRect">
            <a:avLst>
              <a:gd name="adj" fmla="val 16000"/>
            </a:avLst>
          </a:prstGeom>
          <a:solidFill>
            <a:srgbClr val="FD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9610343" y="5166360"/>
            <a:ext cx="310896" cy="310896"/>
          </a:xfrm>
          <a:prstGeom prst="ellipse">
            <a:avLst/>
          </a:prstGeom>
          <a:solidFill>
            <a:srgbClr val="D14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3" name="Picture 252" descr="shield_alert__whit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65207" y="5221224"/>
            <a:ext cx="201168" cy="201168"/>
          </a:xfrm>
          <a:prstGeom prst="rect">
            <a:avLst/>
          </a:prstGeom>
        </p:spPr>
      </p:pic>
      <p:sp>
        <p:nvSpPr>
          <p:cNvPr id="254" name="TextBox 253"/>
          <p:cNvSpPr txBox="1"/>
          <p:nvPr/>
        </p:nvSpPr>
        <p:spPr>
          <a:xfrm>
            <a:off x="9985247" y="5102352"/>
            <a:ext cx="1783079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>
                <a:solidFill>
                  <a:srgbClr val="8E1F14"/>
                </a:solidFill>
                <a:latin typeface="Arial"/>
              </a:rPr>
              <a:t>NON-COMPLIANT</a:t>
            </a:r>
          </a:p>
          <a:p>
            <a:pPr algn="l">
              <a:lnSpc>
                <a:spcPct val="86000"/>
              </a:lnSpc>
            </a:pPr>
            <a:r>
              <a:rPr sz="1200" b="1">
                <a:solidFill>
                  <a:srgbClr val="8E1F14"/>
                </a:solidFill>
                <a:latin typeface="Arial"/>
              </a:rPr>
              <a:t>critical rule failed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4718303" y="5614416"/>
            <a:ext cx="7123176" cy="402336"/>
          </a:xfrm>
          <a:prstGeom prst="roundRect">
            <a:avLst>
              <a:gd name="adj" fmla="val 14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4864607" y="5660136"/>
            <a:ext cx="310896" cy="310896"/>
          </a:xfrm>
          <a:prstGeom prst="ellipse">
            <a:avLst/>
          </a:prstGeom>
          <a:solidFill>
            <a:srgbClr val="0E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7" name="Picture 256" descr="dashboard__whit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9471" y="5715000"/>
            <a:ext cx="201168" cy="201168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5230367" y="5614416"/>
            <a:ext cx="1807464" cy="4023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React dashboard</a:t>
            </a:r>
          </a:p>
        </p:txBody>
      </p:sp>
      <p:sp>
        <p:nvSpPr>
          <p:cNvPr id="259" name="Oval 258"/>
          <p:cNvSpPr/>
          <p:nvPr/>
        </p:nvSpPr>
        <p:spPr>
          <a:xfrm>
            <a:off x="7238999" y="5660136"/>
            <a:ext cx="310896" cy="310896"/>
          </a:xfrm>
          <a:prstGeom prst="ellipse">
            <a:avLst/>
          </a:prstGeom>
          <a:solidFill>
            <a:srgbClr val="0E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0" name="Picture 259" descr="audit__whit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3863" y="5715000"/>
            <a:ext cx="201168" cy="201168"/>
          </a:xfrm>
          <a:prstGeom prst="rect">
            <a:avLst/>
          </a:prstGeom>
        </p:spPr>
      </p:pic>
      <p:sp>
        <p:nvSpPr>
          <p:cNvPr id="261" name="TextBox 260"/>
          <p:cNvSpPr txBox="1"/>
          <p:nvPr/>
        </p:nvSpPr>
        <p:spPr>
          <a:xfrm>
            <a:off x="7604760" y="5614416"/>
            <a:ext cx="1807464" cy="4023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Ranked fix guide</a:t>
            </a:r>
          </a:p>
        </p:txBody>
      </p:sp>
      <p:sp>
        <p:nvSpPr>
          <p:cNvPr id="262" name="Oval 261"/>
          <p:cNvSpPr/>
          <p:nvPr/>
        </p:nvSpPr>
        <p:spPr>
          <a:xfrm>
            <a:off x="9613391" y="5660136"/>
            <a:ext cx="310896" cy="310896"/>
          </a:xfrm>
          <a:prstGeom prst="ellipse">
            <a:avLst/>
          </a:prstGeom>
          <a:solidFill>
            <a:srgbClr val="0E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3" name="Picture 262" descr="passport__whit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68256" y="5715000"/>
            <a:ext cx="201168" cy="201168"/>
          </a:xfrm>
          <a:prstGeom prst="rect">
            <a:avLst/>
          </a:prstGeom>
        </p:spPr>
      </p:pic>
      <p:sp>
        <p:nvSpPr>
          <p:cNvPr id="264" name="TextBox 263"/>
          <p:cNvSpPr txBox="1"/>
          <p:nvPr/>
        </p:nvSpPr>
        <p:spPr>
          <a:xfrm>
            <a:off x="9979151" y="5614416"/>
            <a:ext cx="1807464" cy="4023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Bid Passport</a:t>
            </a:r>
          </a:p>
        </p:txBody>
      </p:sp>
      <p:pic>
        <p:nvPicPr>
          <p:cNvPr id="265" name="Picture 264" descr="star_smal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03736" y="5715000"/>
            <a:ext cx="192024" cy="192024"/>
          </a:xfrm>
          <a:prstGeom prst="rect">
            <a:avLst/>
          </a:prstGeom>
        </p:spPr>
      </p:pic>
      <p:sp>
        <p:nvSpPr>
          <p:cNvPr id="266" name="Rectangle 26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57600" y="6309360"/>
            <a:ext cx="4876495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spc="25">
                <a:solidFill>
                  <a:srgbClr val="FFFFFF"/>
                </a:solidFill>
                <a:latin typeface="Arial"/>
              </a:rPr>
              <a:t>@Debug Dynasty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201400" y="6309360"/>
            <a:ext cx="749808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270" name="Picture 269">
            <a:extLst>
              <a:ext uri="{FF2B5EF4-FFF2-40B4-BE49-F238E27FC236}">
                <a16:creationId xmlns:a16="http://schemas.microsoft.com/office/drawing/2014/main" id="{6B9F6123-68AE-1A9D-60AA-131A7F51B6D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551" y="-9961"/>
            <a:ext cx="1984592" cy="9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5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6032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latin typeface="OCR A Extended" panose="02010509020102010303" pitchFamily="50" charset="0"/>
                <a:ea typeface="Cambria" pitchFamily="34" charset="-122"/>
                <a:cs typeface="Cambria" pitchFamily="34" charset="-120"/>
              </a:rPr>
              <a:t>FEASIBILITY</a:t>
            </a:r>
            <a:r>
              <a:rPr lang="en-US" sz="3000" b="1" kern="0" spc="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kern="0" spc="200" dirty="0">
                <a:latin typeface="OCR A Extended" panose="02010509020102010303" pitchFamily="50" charset="0"/>
                <a:ea typeface="Cambria" pitchFamily="34" charset="-122"/>
                <a:cs typeface="Cambria" pitchFamily="34" charset="-120"/>
              </a:rPr>
              <a:t>AND VIABILITY</a:t>
            </a:r>
            <a:endParaRPr lang="en-US" sz="3000" dirty="0">
              <a:latin typeface="OCR A Extended" panose="02010509020102010303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EDF2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36192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verification — instant Rule Engine checks backed by Gemini-powered RAG for complex cases.</a:t>
            </a:r>
          </a:p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 fallback — the system knows when it's unsure and auto-escalates to AI reasoning.
</a:t>
            </a: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simplicity — upload a bid, get it verified, zero manual routing.
</a:t>
            </a: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fires only when truly needed — maximum accuracy at minimum compute cost.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262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46320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</a:t>
            </a: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rules can misfire on complex wording; AI can waver on ambiguous clauses.
</a:t>
            </a: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fallback — Rule Engine first, RAG + Gemini AI for deeper contextual checks.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91072" y="105156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EAF6EF"/>
          </a:solidFill>
          <a:ln w="19050">
            <a:solidFill>
              <a:srgbClr val="1F6F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u="sng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536192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procurement is booming — fast, reliable bulk verification remains unsolved.
</a:t>
            </a: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Value: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compliance checking into a transparent, auditable process.
</a:t>
            </a: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ROI: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manual effort, faster turnaround, compounding productivity gains.
</a:t>
            </a: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Adoption: 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rules added in minutes; AI absorbs the rest — grows without a rebuild.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450556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USER CHALLENGES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4846320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</a:t>
            </a: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hesitate to trust an automated system for compliance decisions.
</a:t>
            </a: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comes with clear reasoning, a confidence score, and supporting evidence.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4E0CDC-4F35-89EF-E118-0CB6B1C73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688" y="-24493"/>
            <a:ext cx="2249850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8499E5-827C-0BB5-2527-3950A9C29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92" y="54864"/>
            <a:ext cx="841248" cy="841248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37A8DEC9-6B80-5D34-870D-D10979B21F26}"/>
              </a:ext>
            </a:extLst>
          </p:cNvPr>
          <p:cNvSpPr txBox="1"/>
          <p:nvPr/>
        </p:nvSpPr>
        <p:spPr>
          <a:xfrm>
            <a:off x="928520" y="68580"/>
            <a:ext cx="2468880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2000"/>
              </a:lnSpc>
            </a:pPr>
            <a:r>
              <a:rPr sz="2000" b="1" spc="30">
                <a:solidFill>
                  <a:srgbClr val="1A2233"/>
                </a:solidFill>
                <a:latin typeface="Arial"/>
              </a:rPr>
              <a:t>DEBUG</a:t>
            </a:r>
          </a:p>
          <a:p>
            <a:pPr algn="l">
              <a:lnSpc>
                <a:spcPct val="92000"/>
              </a:lnSpc>
            </a:pPr>
            <a:r>
              <a:rPr sz="2000" b="1" spc="30">
                <a:solidFill>
                  <a:srgbClr val="0EA05B"/>
                </a:solidFill>
                <a:latin typeface="Arial"/>
              </a:rPr>
              <a:t>DYNASTY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07655B-1E2E-999C-5394-EE0AC681D85A}"/>
              </a:ext>
            </a:extLst>
          </p:cNvPr>
          <p:cNvSpPr/>
          <p:nvPr/>
        </p:nvSpPr>
        <p:spPr>
          <a:xfrm>
            <a:off x="-2743" y="6336792"/>
            <a:ext cx="12191695" cy="548640"/>
          </a:xfrm>
          <a:prstGeom prst="rect">
            <a:avLst/>
          </a:prstGeom>
          <a:solidFill>
            <a:srgbClr val="2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00">
            <a:extLst>
              <a:ext uri="{FF2B5EF4-FFF2-40B4-BE49-F238E27FC236}">
                <a16:creationId xmlns:a16="http://schemas.microsoft.com/office/drawing/2014/main" id="{A2C31560-279B-DF0C-D961-4F7118CB7FD1}"/>
              </a:ext>
            </a:extLst>
          </p:cNvPr>
          <p:cNvSpPr txBox="1"/>
          <p:nvPr/>
        </p:nvSpPr>
        <p:spPr>
          <a:xfrm>
            <a:off x="3688233" y="6316078"/>
            <a:ext cx="4876495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spc="25">
                <a:solidFill>
                  <a:srgbClr val="FFFFFF"/>
                </a:solidFill>
                <a:latin typeface="Arial"/>
              </a:rPr>
              <a:t>@Debug Dynasty</a:t>
            </a:r>
          </a:p>
        </p:txBody>
      </p:sp>
    </p:spTree>
    <p:extLst>
      <p:ext uri="{BB962C8B-B14F-4D97-AF65-F5344CB8AC3E}">
        <p14:creationId xmlns:p14="http://schemas.microsoft.com/office/powerpoint/2010/main" val="396004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82880"/>
            <a:ext cx="2468880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2000" b="1" spc="30">
                <a:solidFill>
                  <a:srgbClr val="1A2233"/>
                </a:solidFill>
                <a:latin typeface="Arial"/>
              </a:rPr>
              <a:t>DEBUG</a:t>
            </a:r>
          </a:p>
          <a:p>
            <a:pPr algn="l">
              <a:lnSpc>
                <a:spcPct val="92000"/>
              </a:lnSpc>
            </a:pPr>
            <a:r>
              <a:rPr sz="2000" b="1" spc="30">
                <a:solidFill>
                  <a:srgbClr val="0EA05B"/>
                </a:solidFill>
                <a:latin typeface="Arial"/>
              </a:rPr>
              <a:t>DYNASTY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2139" y="292494"/>
            <a:ext cx="5488682" cy="548868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ctr"/>
            <a:r>
              <a:rPr sz="3400" b="1" spc="80" dirty="0">
                <a:solidFill>
                  <a:srgbClr val="16191D"/>
                </a:solidFill>
                <a:latin typeface="OCR A Extended" panose="02010509020102010303" pitchFamily="50" charset="0"/>
              </a:rPr>
              <a:t>IMPACTS  &amp;  BENEFITS</a:t>
            </a:r>
          </a:p>
        </p:txBody>
      </p:sp>
      <p:sp>
        <p:nvSpPr>
          <p:cNvPr id="8" name="Oval 7"/>
          <p:cNvSpPr/>
          <p:nvPr/>
        </p:nvSpPr>
        <p:spPr>
          <a:xfrm>
            <a:off x="586295" y="1136068"/>
            <a:ext cx="238139" cy="246889"/>
          </a:xfrm>
          <a:prstGeom prst="ellipse">
            <a:avLst/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8441" y="1115567"/>
            <a:ext cx="4873261" cy="87241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600" b="1" dirty="0">
                <a:solidFill>
                  <a:srgbClr val="6B3B06"/>
                </a:solidFill>
                <a:latin typeface="Arial"/>
              </a:rPr>
              <a:t>Faster &amp; Consistent Bid Evaluation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dirty="0">
                <a:solidFill>
                  <a:srgbClr val="2A3138"/>
                </a:solidFill>
                <a:latin typeface="Arial"/>
              </a:rPr>
              <a:t>Automated requirement-vs-document checking replaces line-by-line manual review, and one shared rule set makes different officers reach the same verdict on the same clause.</a:t>
            </a:r>
          </a:p>
        </p:txBody>
      </p:sp>
      <p:sp>
        <p:nvSpPr>
          <p:cNvPr id="12" name="Oval 11"/>
          <p:cNvSpPr/>
          <p:nvPr/>
        </p:nvSpPr>
        <p:spPr>
          <a:xfrm>
            <a:off x="576268" y="1980954"/>
            <a:ext cx="238138" cy="246889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995" y="1983755"/>
            <a:ext cx="4873260" cy="87241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600" b="1" dirty="0">
                <a:solidFill>
                  <a:srgbClr val="0E2F5F"/>
                </a:solidFill>
                <a:latin typeface="Arial"/>
              </a:rPr>
              <a:t>Transparent &amp; Defensible Procurement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dirty="0">
                <a:solidFill>
                  <a:srgbClr val="2A3138"/>
                </a:solidFill>
                <a:latin typeface="Arial"/>
              </a:rPr>
              <a:t>Every flagged requirement links to its source document, extracted value and page — a stated reason, not an unexplained AI score, so decisions survive audit and appeal.</a:t>
            </a:r>
          </a:p>
        </p:txBody>
      </p:sp>
      <p:sp>
        <p:nvSpPr>
          <p:cNvPr id="16" name="Oval 15"/>
          <p:cNvSpPr/>
          <p:nvPr/>
        </p:nvSpPr>
        <p:spPr>
          <a:xfrm>
            <a:off x="576957" y="2820924"/>
            <a:ext cx="238138" cy="205740"/>
          </a:xfrm>
          <a:prstGeom prst="ellipse">
            <a:avLst/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040" y="2833605"/>
            <a:ext cx="5082093" cy="87241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600" b="1" dirty="0">
                <a:solidFill>
                  <a:srgbClr val="0B4A28"/>
                </a:solidFill>
                <a:latin typeface="Arial"/>
              </a:rPr>
              <a:t>Reduced Compliance &amp; Fraud Risk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dirty="0">
                <a:solidFill>
                  <a:srgbClr val="2A3138"/>
                </a:solidFill>
                <a:latin typeface="Arial"/>
              </a:rPr>
              <a:t>Cross-document validation catches missing evidence, conflicting bidder details and expired certificates early; low-confidence cases go to a reviewer, not an auto-rejection.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1042415"/>
            <a:ext cx="5861304" cy="2551176"/>
          </a:xfrm>
          <a:prstGeom prst="rect">
            <a:avLst/>
          </a:prstGeom>
          <a:solidFill>
            <a:srgbClr val="1B2430"/>
          </a:solidFill>
          <a:ln w="15875">
            <a:solidFill>
              <a:srgbClr val="394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53328" y="1042415"/>
            <a:ext cx="5861304" cy="329184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1042415"/>
            <a:ext cx="3191256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spc="25">
                <a:solidFill>
                  <a:srgbClr val="C6CEDA"/>
                </a:solidFill>
                <a:latin typeface="Arial"/>
              </a:rPr>
              <a:t>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042415"/>
            <a:ext cx="1298448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 spc="25">
                <a:solidFill>
                  <a:srgbClr val="C6CEDA"/>
                </a:solidFill>
                <a:latin typeface="Arial"/>
              </a:rPr>
              <a:t>Existing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1048" y="1042415"/>
            <a:ext cx="1243584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 spc="25">
                <a:solidFill>
                  <a:srgbClr val="0EA05B"/>
                </a:solidFill>
                <a:latin typeface="Arial"/>
              </a:rPr>
              <a:t>GeMShield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1371600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Tender-specific rule generation</a:t>
            </a:r>
          </a:p>
        </p:txBody>
      </p:sp>
      <p:pic>
        <p:nvPicPr>
          <p:cNvPr id="25" name="Picture 24" descr="mx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242" y="1410462"/>
            <a:ext cx="169164" cy="169164"/>
          </a:xfrm>
          <a:prstGeom prst="rect">
            <a:avLst/>
          </a:prstGeom>
        </p:spPr>
      </p:pic>
      <p:pic>
        <p:nvPicPr>
          <p:cNvPr id="26" name="Picture 25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403604"/>
            <a:ext cx="182880" cy="1828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71616" y="1618488"/>
            <a:ext cx="5824728" cy="246888"/>
          </a:xfrm>
          <a:prstGeom prst="rect">
            <a:avLst/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81344" y="1618488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Cross-document verification</a:t>
            </a:r>
          </a:p>
        </p:txBody>
      </p:sp>
      <p:pic>
        <p:nvPicPr>
          <p:cNvPr id="29" name="Picture 28" descr="mx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242" y="1657350"/>
            <a:ext cx="169164" cy="169164"/>
          </a:xfrm>
          <a:prstGeom prst="rect">
            <a:avLst/>
          </a:prstGeom>
        </p:spPr>
      </p:pic>
      <p:pic>
        <p:nvPicPr>
          <p:cNvPr id="30" name="Picture 29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650492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81344" y="1865376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Clause → evidence → verdict trail</a:t>
            </a:r>
          </a:p>
        </p:txBody>
      </p:sp>
      <p:pic>
        <p:nvPicPr>
          <p:cNvPr id="32" name="Picture 31" descr="mx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242" y="1904238"/>
            <a:ext cx="169164" cy="169164"/>
          </a:xfrm>
          <a:prstGeom prst="rect">
            <a:avLst/>
          </a:prstGeom>
        </p:spPr>
      </p:pic>
      <p:pic>
        <p:nvPicPr>
          <p:cNvPr id="33" name="Picture 32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97380"/>
            <a:ext cx="182880" cy="1828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071616" y="2112264"/>
            <a:ext cx="5824728" cy="246888"/>
          </a:xfrm>
          <a:prstGeom prst="rect">
            <a:avLst/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81344" y="2112264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Hybrid rules + RAG AI</a:t>
            </a:r>
          </a:p>
        </p:txBody>
      </p:sp>
      <p:pic>
        <p:nvPicPr>
          <p:cNvPr id="36" name="Picture 35" descr="mx_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4" y="2144268"/>
            <a:ext cx="182880" cy="182880"/>
          </a:xfrm>
          <a:prstGeom prst="rect">
            <a:avLst/>
          </a:prstGeom>
        </p:spPr>
      </p:pic>
      <p:pic>
        <p:nvPicPr>
          <p:cNvPr id="37" name="Picture 36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144268"/>
            <a:ext cx="182880" cy="1828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344" y="2359152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GeM procurement logic built in</a:t>
            </a:r>
          </a:p>
        </p:txBody>
      </p:sp>
      <p:pic>
        <p:nvPicPr>
          <p:cNvPr id="39" name="Picture 38" descr="mx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242" y="2398014"/>
            <a:ext cx="169164" cy="169164"/>
          </a:xfrm>
          <a:prstGeom prst="rect">
            <a:avLst/>
          </a:prstGeom>
        </p:spPr>
      </p:pic>
      <p:pic>
        <p:nvPicPr>
          <p:cNvPr id="40" name="Picture 39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391156"/>
            <a:ext cx="182880" cy="1828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6071616" y="2606040"/>
            <a:ext cx="5824728" cy="246888"/>
          </a:xfrm>
          <a:prstGeom prst="rect">
            <a:avLst/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81344" y="2606040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Negation-aware field validation</a:t>
            </a:r>
          </a:p>
        </p:txBody>
      </p:sp>
      <p:pic>
        <p:nvPicPr>
          <p:cNvPr id="43" name="Picture 42" descr="mx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242" y="2644902"/>
            <a:ext cx="169164" cy="169164"/>
          </a:xfrm>
          <a:prstGeom prst="rect">
            <a:avLst/>
          </a:prstGeom>
        </p:spPr>
      </p:pic>
      <p:pic>
        <p:nvPicPr>
          <p:cNvPr id="44" name="Picture 43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638044"/>
            <a:ext cx="182880" cy="1828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81344" y="2852928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Confidence-gated human review</a:t>
            </a:r>
          </a:p>
        </p:txBody>
      </p:sp>
      <p:pic>
        <p:nvPicPr>
          <p:cNvPr id="46" name="Picture 45" descr="mx_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4" y="2884932"/>
            <a:ext cx="182880" cy="182880"/>
          </a:xfrm>
          <a:prstGeom prst="rect">
            <a:avLst/>
          </a:prstGeom>
        </p:spPr>
      </p:pic>
      <p:pic>
        <p:nvPicPr>
          <p:cNvPr id="47" name="Picture 46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884932"/>
            <a:ext cx="182880" cy="1828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71616" y="3099816"/>
            <a:ext cx="5824728" cy="246888"/>
          </a:xfrm>
          <a:prstGeom prst="rect">
            <a:avLst/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81344" y="3099816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On-premise / data sovereignty</a:t>
            </a:r>
          </a:p>
        </p:txBody>
      </p:sp>
      <p:pic>
        <p:nvPicPr>
          <p:cNvPr id="50" name="Picture 49" descr="mx_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4" y="3131820"/>
            <a:ext cx="182880" cy="182880"/>
          </a:xfrm>
          <a:prstGeom prst="rect">
            <a:avLst/>
          </a:prstGeom>
        </p:spPr>
      </p:pic>
      <p:pic>
        <p:nvPicPr>
          <p:cNvPr id="51" name="Picture 50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3131820"/>
            <a:ext cx="182880" cy="1828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181344" y="3346704"/>
            <a:ext cx="3136391" cy="2468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0">
                <a:solidFill>
                  <a:srgbClr val="F2F5F9"/>
                </a:solidFill>
                <a:latin typeface="Arial"/>
              </a:rPr>
              <a:t>Reusable, auditable decision record</a:t>
            </a:r>
          </a:p>
        </p:txBody>
      </p:sp>
      <p:pic>
        <p:nvPicPr>
          <p:cNvPr id="53" name="Picture 52" descr="mx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242" y="3385566"/>
            <a:ext cx="169164" cy="169164"/>
          </a:xfrm>
          <a:prstGeom prst="rect">
            <a:avLst/>
          </a:prstGeom>
        </p:spPr>
      </p:pic>
      <p:pic>
        <p:nvPicPr>
          <p:cNvPr id="54" name="Picture 53" descr="mx_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3378708"/>
            <a:ext cx="182880" cy="18288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9372600" y="1042415"/>
            <a:ext cx="7315" cy="2551176"/>
          </a:xfrm>
          <a:prstGeom prst="rect">
            <a:avLst/>
          </a:prstGeom>
          <a:solidFill>
            <a:srgbClr val="39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671048" y="1042415"/>
            <a:ext cx="7315" cy="2551176"/>
          </a:xfrm>
          <a:prstGeom prst="rect">
            <a:avLst/>
          </a:prstGeom>
          <a:solidFill>
            <a:srgbClr val="39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06324" y="3744885"/>
            <a:ext cx="11640312" cy="402336"/>
          </a:xfrm>
          <a:prstGeom prst="rect">
            <a:avLst/>
          </a:prstGeom>
          <a:solidFill>
            <a:srgbClr val="FFFFFF"/>
          </a:solidFill>
          <a:ln w="22225">
            <a:solidFill>
              <a:srgbClr val="52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3751715"/>
            <a:ext cx="11640312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700" b="1" spc="100" dirty="0">
                <a:solidFill>
                  <a:srgbClr val="16191D"/>
                </a:solidFill>
                <a:latin typeface="OCR A Extended" panose="02010509020102010303" pitchFamily="50" charset="0"/>
              </a:rPr>
              <a:t>HOW  GEMSHIELD  WORKS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4224528"/>
            <a:ext cx="3776472" cy="1993392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25400">
            <a:solidFill>
              <a:srgbClr val="215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365760" y="4306824"/>
            <a:ext cx="3593591" cy="384048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00" b="1" spc="10">
                <a:solidFill>
                  <a:srgbClr val="FFFFFF"/>
                </a:solidFill>
                <a:latin typeface="Arial"/>
              </a:rPr>
              <a:t>MODE 1 :  RULE ENGINE — clear clause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4754880"/>
            <a:ext cx="3465576" cy="10932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0E2F5F"/>
                </a:solidFill>
                <a:latin typeface="Arial"/>
              </a:rPr>
              <a:t>For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Exactly checkable requirements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0E2F5F"/>
                </a:solidFill>
                <a:latin typeface="Arial"/>
              </a:rPr>
              <a:t>Process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Extract  →  </a:t>
            </a:r>
            <a:r>
              <a:rPr sz="1250" b="0" dirty="0" err="1">
                <a:solidFill>
                  <a:srgbClr val="23292F"/>
                </a:solidFill>
                <a:latin typeface="Arial"/>
              </a:rPr>
              <a:t>GeM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 rules  →  verdict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0E2F5F"/>
                </a:solidFill>
                <a:latin typeface="Arial"/>
              </a:rPr>
              <a:t>Time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Under 2 seconds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0E2F5F"/>
                </a:solidFill>
                <a:latin typeface="Arial"/>
              </a:rPr>
              <a:t>Confidence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Deterministic  ·  repeatable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0E2F5F"/>
                </a:solidFill>
                <a:latin typeface="Arial"/>
              </a:rPr>
              <a:t>Best For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GSTIN, PAN, EMD, dates, values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06240" y="4224528"/>
            <a:ext cx="3776472" cy="1993392"/>
          </a:xfrm>
          <a:prstGeom prst="roundRect">
            <a:avLst>
              <a:gd name="adj" fmla="val 5500"/>
            </a:avLst>
          </a:prstGeom>
          <a:solidFill>
            <a:srgbClr val="FDF2E4"/>
          </a:solidFill>
          <a:ln w="25400">
            <a:solidFill>
              <a:srgbClr val="E0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297679" y="4306824"/>
            <a:ext cx="3593591" cy="384048"/>
          </a:xfrm>
          <a:prstGeom prst="roundRect">
            <a:avLst>
              <a:gd name="adj" fmla="val 16000"/>
            </a:avLst>
          </a:prstGeom>
          <a:solidFill>
            <a:srgbClr val="EF8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00" b="1" spc="10" dirty="0">
                <a:solidFill>
                  <a:srgbClr val="FFFFFF"/>
                </a:solidFill>
                <a:latin typeface="Arial"/>
              </a:rPr>
              <a:t>MODE 2 :  RAG + AI — unclear clause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1" y="4754880"/>
            <a:ext cx="3465576" cy="138988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6B3B06"/>
                </a:solidFill>
                <a:latin typeface="Arial"/>
              </a:rPr>
              <a:t>For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Wording no rule reads literally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6B3B06"/>
                </a:solidFill>
                <a:latin typeface="Arial"/>
              </a:rPr>
              <a:t>Process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Embed  →  </a:t>
            </a:r>
            <a:r>
              <a:rPr sz="1250" b="0" dirty="0" err="1">
                <a:solidFill>
                  <a:srgbClr val="23292F"/>
                </a:solidFill>
                <a:latin typeface="Arial"/>
              </a:rPr>
              <a:t>pgvector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  →  Gemini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6B3B06"/>
                </a:solidFill>
                <a:latin typeface="Arial"/>
              </a:rPr>
              <a:t>Time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3 – 8 seconds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6B3B06"/>
                </a:solidFill>
                <a:latin typeface="Arial"/>
              </a:rPr>
              <a:t>Confidence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Rulebook-grounded  ·  scored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 dirty="0">
                <a:solidFill>
                  <a:srgbClr val="6B3B06"/>
                </a:solidFill>
                <a:latin typeface="Arial"/>
              </a:rPr>
              <a:t>Best For :  </a:t>
            </a:r>
            <a:r>
              <a:rPr sz="1250" b="0" dirty="0">
                <a:solidFill>
                  <a:srgbClr val="23292F"/>
                </a:solidFill>
                <a:latin typeface="Arial"/>
              </a:rPr>
              <a:t>Paraphrased or conditional ATCs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59" y="4224528"/>
            <a:ext cx="3776472" cy="1993392"/>
          </a:xfrm>
          <a:prstGeom prst="roundRect">
            <a:avLst>
              <a:gd name="adj" fmla="val 5500"/>
            </a:avLst>
          </a:prstGeom>
          <a:solidFill>
            <a:srgbClr val="E6F6EC"/>
          </a:solidFill>
          <a:ln w="25400">
            <a:solidFill>
              <a:srgbClr val="239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229599" y="4306824"/>
            <a:ext cx="3593591" cy="384048"/>
          </a:xfrm>
          <a:prstGeom prst="roundRect">
            <a:avLst>
              <a:gd name="adj" fmla="val 16000"/>
            </a:avLst>
          </a:prstGeom>
          <a:solidFill>
            <a:srgbClr val="2F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/>
          <a:lstStyle/>
          <a:p>
            <a:pPr algn="ctr"/>
            <a:r>
              <a:rPr sz="1300" b="1" spc="10">
                <a:solidFill>
                  <a:srgbClr val="FFFFFF"/>
                </a:solidFill>
                <a:latin typeface="Arial"/>
              </a:rPr>
              <a:t>MODE 3 :  HUMAN REVIEW — low score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2751" y="4754880"/>
            <a:ext cx="3465576" cy="138988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0B4A28"/>
                </a:solidFill>
                <a:latin typeface="Arial"/>
              </a:rPr>
              <a:t>For :  </a:t>
            </a:r>
            <a:r>
              <a:rPr sz="1250" b="0">
                <a:solidFill>
                  <a:srgbClr val="23292F"/>
                </a:solidFill>
                <a:latin typeface="Arial"/>
              </a:rPr>
              <a:t>Conflicting or low-confidence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0B4A28"/>
                </a:solidFill>
                <a:latin typeface="Arial"/>
              </a:rPr>
              <a:t>Process :  </a:t>
            </a:r>
            <a:r>
              <a:rPr sz="1250" b="0">
                <a:solidFill>
                  <a:srgbClr val="23292F"/>
                </a:solidFill>
                <a:latin typeface="Arial"/>
              </a:rPr>
              <a:t>Flag + evidence  →  officer decides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0B4A28"/>
                </a:solidFill>
                <a:latin typeface="Arial"/>
              </a:rPr>
              <a:t>Time :  </a:t>
            </a:r>
            <a:r>
              <a:rPr sz="1250" b="0">
                <a:solidFill>
                  <a:srgbClr val="23292F"/>
                </a:solidFill>
                <a:latin typeface="Arial"/>
              </a:rPr>
              <a:t>Officer-led, fully logged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0B4A28"/>
                </a:solidFill>
                <a:latin typeface="Arial"/>
              </a:rPr>
              <a:t>Confidence :  </a:t>
            </a:r>
            <a:r>
              <a:rPr sz="1250" b="0">
                <a:solidFill>
                  <a:srgbClr val="23292F"/>
                </a:solidFill>
                <a:latin typeface="Arial"/>
              </a:rPr>
              <a:t>Officer has final authority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0B4A28"/>
                </a:solidFill>
                <a:latin typeface="Arial"/>
              </a:rPr>
              <a:t>Best For :  </a:t>
            </a:r>
            <a:r>
              <a:rPr sz="1250" b="0">
                <a:solidFill>
                  <a:srgbClr val="23292F"/>
                </a:solidFill>
                <a:latin typeface="Arial"/>
              </a:rPr>
              <a:t>Contradictions, poor scans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57600" y="6309360"/>
            <a:ext cx="4876495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spc="25">
                <a:solidFill>
                  <a:srgbClr val="FFFFFF"/>
                </a:solidFill>
                <a:latin typeface="Arial"/>
              </a:rPr>
              <a:t>@Debug Dynasty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6309360"/>
            <a:ext cx="749808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7B405D0F-6C1A-4636-DF2E-AE6D45EA5D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405" y="-9960"/>
            <a:ext cx="2009737" cy="94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3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 txBox="1"/>
          <p:nvPr/>
        </p:nvSpPr>
        <p:spPr>
          <a:xfrm>
            <a:off x="1357884" y="260679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atin typeface="OCR A Extended" pitchFamily="34" charset="0"/>
                <a:ea typeface="OCR A Extended" pitchFamily="34" charset="-122"/>
                <a:cs typeface="OCR A Extended" pitchFamily="34" charset="-120"/>
              </a:rPr>
              <a:t>Research &amp; References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1943452" y="521370"/>
            <a:ext cx="8714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i="1" dirty="0">
              <a:solidFill>
                <a:srgbClr val="5B6B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457200" y="1060603"/>
            <a:ext cx="11274552" cy="1874520"/>
          </a:xfrm>
          <a:prstGeom prst="roundRect">
            <a:avLst>
              <a:gd name="adj" fmla="val 3902"/>
            </a:avLst>
          </a:prstGeom>
          <a:solidFill>
            <a:srgbClr val="EAF3EE"/>
          </a:solidFill>
          <a:ln/>
        </p:spPr>
      </p:sp>
      <p:sp>
        <p:nvSpPr>
          <p:cNvPr id="7" name="Shape 3"/>
          <p:cNvSpPr/>
          <p:nvPr/>
        </p:nvSpPr>
        <p:spPr>
          <a:xfrm>
            <a:off x="456454" y="1080485"/>
            <a:ext cx="73152" cy="1874520"/>
          </a:xfrm>
          <a:prstGeom prst="roundRect">
            <a:avLst/>
          </a:prstGeom>
          <a:solidFill>
            <a:srgbClr val="1F6F5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04672" y="1549908"/>
            <a:ext cx="100584" cy="100584"/>
          </a:xfrm>
          <a:prstGeom prst="ellipse">
            <a:avLst/>
          </a:prstGeom>
          <a:solidFill>
            <a:srgbClr val="1F6F5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005840" y="1481328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Financial Rules (GFR) 2017</a:t>
            </a:r>
            <a:r>
              <a:rPr lang="en-US" sz="1300" dirty="0">
                <a:solidFill>
                  <a:srgbClr val="1C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India’s statutory eligibility &amp; EMD thresholds. We also studied the </a:t>
            </a: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Integrity Guidelines</a:t>
            </a:r>
            <a:r>
              <a:rPr lang="en-US" sz="1300" dirty="0">
                <a:solidFill>
                  <a:srgbClr val="1C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conflict-of-interest checks.  </a:t>
            </a: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details: </a:t>
            </a:r>
            <a:r>
              <a:rPr lang="en-US" sz="1100" u="sng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GFR 2017 (Dept. of Expenditure)</a:t>
            </a: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100" u="sng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Guidelines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2125930"/>
            <a:ext cx="100584" cy="100584"/>
          </a:xfrm>
          <a:prstGeom prst="ellipse">
            <a:avLst/>
          </a:prstGeom>
          <a:solidFill>
            <a:srgbClr val="1F6F5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37844" y="2075688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studies on RegTech</a:t>
            </a:r>
            <a:r>
              <a:rPr lang="en-US" sz="1300" dirty="0">
                <a:solidFill>
                  <a:srgbClr val="1C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OCR + NLP document analysis can flag missing certificates before manual review.  </a:t>
            </a: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</a:t>
            </a:r>
            <a:r>
              <a:rPr lang="en-US" sz="1100" u="sng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Minaions</a:t>
            </a: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100" u="sng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Bidz365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2606040"/>
            <a:ext cx="100584" cy="100584"/>
          </a:xfrm>
          <a:prstGeom prst="ellipse">
            <a:avLst/>
          </a:prstGeom>
          <a:solidFill>
            <a:srgbClr val="1F6F5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010785" y="249631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market data</a:t>
            </a:r>
            <a:r>
              <a:rPr lang="en-US" sz="1300" dirty="0">
                <a:solidFill>
                  <a:srgbClr val="1C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a scale of ₹20 lakh crore GMV and 3.78 crore orders (Aug 2026) that manual review can’t keep up with.  </a:t>
            </a: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</a:t>
            </a:r>
            <a:r>
              <a:rPr lang="en-US" sz="1100" u="sng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GeM Update</a:t>
            </a: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100" u="sng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Portal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29606" y="4084627"/>
            <a:ext cx="5074920" cy="1572768"/>
          </a:xfrm>
          <a:prstGeom prst="roundRect">
            <a:avLst>
              <a:gd name="adj" fmla="val 4651"/>
            </a:avLst>
          </a:prstGeom>
          <a:solidFill>
            <a:srgbClr val="F4F1E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2"/>
          <p:cNvSpPr txBox="1"/>
          <p:nvPr/>
        </p:nvSpPr>
        <p:spPr>
          <a:xfrm>
            <a:off x="823492" y="43538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8A6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ALREADY EXIST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699273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tools check seller eligibility pre-bid — none verify the buyer’s compliance checklist.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1C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tools:  </a:t>
            </a:r>
            <a:r>
              <a:rPr lang="en-US" sz="1250" u="sng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Minaions / Bidz365 / Tenderkart / RITES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644142" y="3076088"/>
            <a:ext cx="5074920" cy="1572768"/>
          </a:xfrm>
          <a:prstGeom prst="roundRect">
            <a:avLst>
              <a:gd name="adj" fmla="val 4651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6"/>
          <p:cNvSpPr txBox="1"/>
          <p:nvPr/>
        </p:nvSpPr>
        <p:spPr>
          <a:xfrm>
            <a:off x="6918462" y="319392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300" b="1" kern="0" spc="50" dirty="0" err="1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GeMSHIELD</a:t>
            </a:r>
            <a:r>
              <a:rPr lang="en-US" sz="1300" b="1" kern="0" spc="5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OUT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918836" y="3559446"/>
            <a:ext cx="146304" cy="146304"/>
          </a:xfrm>
          <a:prstGeom prst="ellipse">
            <a:avLst/>
          </a:prstGeom>
          <a:solidFill>
            <a:srgbClr val="C98A2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18"/>
          <p:cNvSpPr txBox="1"/>
          <p:nvPr/>
        </p:nvSpPr>
        <p:spPr>
          <a:xfrm>
            <a:off x="6915432" y="3550205"/>
            <a:ext cx="146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2E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7159752" y="3542349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AI:  </a:t>
            </a:r>
            <a:r>
              <a:rPr lang="en-US" sz="1200" b="1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ules stay auditable, explainable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922626" y="3798212"/>
            <a:ext cx="146304" cy="14630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18836" y="3777477"/>
            <a:ext cx="146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2E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7139073" y="3769661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Document-level:  </a:t>
            </a:r>
            <a:r>
              <a:rPr lang="en-US" sz="1200" b="1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2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erifies GST, PAN, MSME, OEM &amp; EMD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922626" y="4034848"/>
            <a:ext cx="146304" cy="14630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921133" y="4014479"/>
            <a:ext cx="146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2E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7139073" y="3999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Buyer-side:  </a:t>
            </a:r>
            <a:r>
              <a:rPr lang="en-US" sz="1200" b="1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uilt for the evaluator, not the seller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931268" y="4263601"/>
            <a:ext cx="146304" cy="14630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931268" y="4234394"/>
            <a:ext cx="1463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2E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7137580" y="423991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Explainable:  </a:t>
            </a:r>
            <a:r>
              <a:rPr lang="en-US" sz="1200" b="1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cite the exact clause &amp; mismatch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11274552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6" name="Picture 45" descr="ddlogo.png">
            <a:extLst>
              <a:ext uri="{FF2B5EF4-FFF2-40B4-BE49-F238E27FC236}">
                <a16:creationId xmlns:a16="http://schemas.microsoft.com/office/drawing/2014/main" id="{83624CA2-158A-2F19-3B23-804AE4AD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713232" cy="71323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50F6BD1-7062-5B95-E285-7E7722EE5831}"/>
              </a:ext>
            </a:extLst>
          </p:cNvPr>
          <p:cNvSpPr txBox="1"/>
          <p:nvPr/>
        </p:nvSpPr>
        <p:spPr>
          <a:xfrm>
            <a:off x="937039" y="245207"/>
            <a:ext cx="609755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</a:pPr>
            <a:r>
              <a:rPr lang="en-IN" sz="2000" b="1" spc="30" dirty="0">
                <a:solidFill>
                  <a:srgbClr val="1A2233"/>
                </a:solidFill>
                <a:latin typeface="Arial"/>
              </a:rPr>
              <a:t>DEBUG</a:t>
            </a:r>
          </a:p>
          <a:p>
            <a:pPr algn="l">
              <a:lnSpc>
                <a:spcPct val="92000"/>
              </a:lnSpc>
            </a:pPr>
            <a:r>
              <a:rPr lang="en-IN" sz="2000" b="1" spc="30" dirty="0">
                <a:solidFill>
                  <a:srgbClr val="0EA05B"/>
                </a:solidFill>
                <a:latin typeface="Arial"/>
              </a:rPr>
              <a:t>DYNASTY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1B51725-F801-489D-B443-6E0E029BD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-14316"/>
            <a:ext cx="2133600" cy="1007446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42B407B1-127F-334A-661C-8A3D8353E565}"/>
              </a:ext>
            </a:extLst>
          </p:cNvPr>
          <p:cNvSpPr/>
          <p:nvPr/>
        </p:nvSpPr>
        <p:spPr>
          <a:xfrm>
            <a:off x="-3" y="6309360"/>
            <a:ext cx="12191999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FFFFFF"/>
                </a:solidFill>
                <a:latin typeface="Arial"/>
              </a:rPr>
              <a:t>6</a:t>
            </a:r>
            <a:endParaRPr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19A04D-75E7-1921-AA7B-19E0BFBBF5BC}"/>
              </a:ext>
            </a:extLst>
          </p:cNvPr>
          <p:cNvSpPr txBox="1"/>
          <p:nvPr/>
        </p:nvSpPr>
        <p:spPr>
          <a:xfrm>
            <a:off x="3657600" y="6309360"/>
            <a:ext cx="4876495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 spc="25" dirty="0">
                <a:solidFill>
                  <a:srgbClr val="FFFFFF"/>
                </a:solidFill>
                <a:latin typeface="Arial"/>
              </a:rPr>
              <a:t>@Debug Dynasty</a:t>
            </a:r>
          </a:p>
        </p:txBody>
      </p:sp>
    </p:spTree>
    <p:extLst>
      <p:ext uri="{BB962C8B-B14F-4D97-AF65-F5344CB8AC3E}">
        <p14:creationId xmlns:p14="http://schemas.microsoft.com/office/powerpoint/2010/main" val="379775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1277</Words>
  <Application>Microsoft Office PowerPoint</Application>
  <PresentationFormat>Widescreen</PresentationFormat>
  <Paragraphs>298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Franklin Gothic Demi Cond</vt:lpstr>
      <vt:lpstr>Garamond</vt:lpstr>
      <vt:lpstr>OCR A Extended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shrijit mukherjee</dc:creator>
  <cp:lastModifiedBy>shrijit mukherjee</cp:lastModifiedBy>
  <cp:revision>9</cp:revision>
  <dcterms:created xsi:type="dcterms:W3CDTF">2026-09-08T07:07:19Z</dcterms:created>
  <dcterms:modified xsi:type="dcterms:W3CDTF">2026-09-09T08:41:55Z</dcterms:modified>
</cp:coreProperties>
</file>